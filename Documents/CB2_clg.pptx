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9.jpg" ContentType="image/jpeg"/>
  <Override PartName="/ppt/media/image10.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7" r:id="rId2"/>
    <p:sldId id="260" r:id="rId3"/>
    <p:sldId id="258" r:id="rId4"/>
    <p:sldId id="259" r:id="rId5"/>
    <p:sldId id="261" r:id="rId6"/>
    <p:sldId id="262" r:id="rId7"/>
    <p:sldId id="264" r:id="rId8"/>
    <p:sldId id="263" r:id="rId9"/>
    <p:sldId id="265" r:id="rId10"/>
    <p:sldId id="266" r:id="rId11"/>
    <p:sldId id="267" r:id="rId12"/>
    <p:sldId id="268" r:id="rId13"/>
    <p:sldId id="279" r:id="rId14"/>
    <p:sldId id="280" r:id="rId15"/>
    <p:sldId id="276" r:id="rId16"/>
    <p:sldId id="277" r:id="rId17"/>
    <p:sldId id="278" r:id="rId18"/>
    <p:sldId id="269" r:id="rId19"/>
    <p:sldId id="270" r:id="rId20"/>
    <p:sldId id="271" r:id="rId21"/>
    <p:sldId id="274" r:id="rId22"/>
    <p:sldId id="275" r:id="rId2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528" y="3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279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30E2CD1-C182-4855-A9EB-EBB7E629C88F}" type="datetimeFigureOut">
              <a:rPr lang="en-IN" smtClean="0"/>
              <a:t>05-12-2025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56234BE-21DE-4D07-A0A4-66BEF0784CCC}" type="slidenum">
              <a:rPr lang="en-IN" smtClean="0"/>
              <a:t>‹#›</a:t>
            </a:fld>
            <a:endParaRPr lang="en-IN"/>
          </a:p>
        </p:txBody>
      </p:sp>
    </p:spTree>
    <p:extLst>
      <p:ext uri="{BB962C8B-B14F-4D97-AF65-F5344CB8AC3E}">
        <p14:creationId xmlns:p14="http://schemas.microsoft.com/office/powerpoint/2010/main" val="365348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6234BE-21DE-4D07-A0A4-66BEF0784CCC}" type="slidenum">
              <a:rPr lang="en-IN" smtClean="0"/>
              <a:t>6</a:t>
            </a:fld>
            <a:endParaRPr lang="en-IN"/>
          </a:p>
        </p:txBody>
      </p:sp>
    </p:spTree>
    <p:extLst>
      <p:ext uri="{BB962C8B-B14F-4D97-AF65-F5344CB8AC3E}">
        <p14:creationId xmlns:p14="http://schemas.microsoft.com/office/powerpoint/2010/main" val="1835126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6" name="Holder 6"/>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4" name="Holder 4"/>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3" name="Holder 3"/>
          <p:cNvSpPr>
            <a:spLocks noGrp="1"/>
          </p:cNvSpPr>
          <p:nvPr>
            <p:ph type="dt" sz="half" idx="6"/>
          </p:nvPr>
        </p:nvSpPr>
        <p:spPr/>
        <p:txBody>
          <a:bodyPr lIns="0" tIns="0" rIns="0" bIns="0"/>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7150" y="38100"/>
            <a:ext cx="3667124" cy="504825"/>
          </a:xfrm>
          <a:prstGeom prst="rect">
            <a:avLst/>
          </a:prstGeom>
        </p:spPr>
      </p:pic>
      <p:sp>
        <p:nvSpPr>
          <p:cNvPr id="2" name="Holder 2"/>
          <p:cNvSpPr>
            <a:spLocks noGrp="1"/>
          </p:cNvSpPr>
          <p:nvPr>
            <p:ph type="title"/>
          </p:nvPr>
        </p:nvSpPr>
        <p:spPr>
          <a:xfrm>
            <a:off x="2806699" y="529843"/>
            <a:ext cx="6578600" cy="701040"/>
          </a:xfrm>
          <a:prstGeom prst="rect">
            <a:avLst/>
          </a:prstGeom>
        </p:spPr>
        <p:txBody>
          <a:bodyPr wrap="square" lIns="0" tIns="0" rIns="0" bIns="0">
            <a:spAutoFit/>
          </a:bodyPr>
          <a:lstStyle>
            <a:lvl1pPr>
              <a:defRPr sz="44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917575" y="1336357"/>
            <a:ext cx="10356850" cy="44875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6529987" y="6451049"/>
            <a:ext cx="1242059"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35" dirty="0"/>
              <a:t>Department</a:t>
            </a:r>
            <a:r>
              <a:rPr spc="295" dirty="0"/>
              <a:t> </a:t>
            </a:r>
            <a:r>
              <a:rPr dirty="0"/>
              <a:t>of</a:t>
            </a:r>
            <a:r>
              <a:rPr spc="25" dirty="0"/>
              <a:t> </a:t>
            </a:r>
            <a:r>
              <a:rPr spc="5" dirty="0"/>
              <a:t>CSE</a:t>
            </a:r>
          </a:p>
        </p:txBody>
      </p:sp>
      <p:sp>
        <p:nvSpPr>
          <p:cNvPr id="5" name="Holder 5"/>
          <p:cNvSpPr>
            <a:spLocks noGrp="1"/>
          </p:cNvSpPr>
          <p:nvPr>
            <p:ph type="dt" sz="half" idx="6"/>
          </p:nvPr>
        </p:nvSpPr>
        <p:spPr>
          <a:xfrm>
            <a:off x="917575" y="6451049"/>
            <a:ext cx="749935"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12700">
              <a:lnSpc>
                <a:spcPts val="1410"/>
              </a:lnSpc>
            </a:pPr>
            <a:r>
              <a:rPr spc="5" dirty="0"/>
              <a:t>24-12-2023</a:t>
            </a:r>
          </a:p>
        </p:txBody>
      </p:sp>
      <p:sp>
        <p:nvSpPr>
          <p:cNvPr id="6" name="Holder 6"/>
          <p:cNvSpPr>
            <a:spLocks noGrp="1"/>
          </p:cNvSpPr>
          <p:nvPr>
            <p:ph type="sldNum" sz="quarter" idx="7"/>
          </p:nvPr>
        </p:nvSpPr>
        <p:spPr>
          <a:xfrm>
            <a:off x="11082401" y="6451049"/>
            <a:ext cx="228600" cy="194309"/>
          </a:xfrm>
          <a:prstGeom prst="rect">
            <a:avLst/>
          </a:prstGeom>
        </p:spPr>
        <p:txBody>
          <a:bodyPr wrap="square" lIns="0" tIns="0" rIns="0" bIns="0">
            <a:spAutoFit/>
          </a:bodyPr>
          <a:lstStyle>
            <a:lvl1pPr>
              <a:defRPr sz="1200" b="0" i="0">
                <a:solidFill>
                  <a:srgbClr val="888888"/>
                </a:solidFill>
                <a:latin typeface="Times New Roman"/>
                <a:cs typeface="Times New Roman"/>
              </a:defRPr>
            </a:lvl1pPr>
          </a:lstStyle>
          <a:p>
            <a:pPr marL="38100">
              <a:lnSpc>
                <a:spcPts val="141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sciencedirect.com/science/article/pii/S2772918424000419?via%3Dihub" TargetMode="External"/><Relationship Id="rId7" Type="http://schemas.openxmlformats.org/officeDocument/2006/relationships/hyperlink" Target="https://www.nature.com/articles/s41598-025-94445-9"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ieeexplore.ieee.org/document/11002467" TargetMode="External"/><Relationship Id="rId5" Type="http://schemas.openxmlformats.org/officeDocument/2006/relationships/hyperlink" Target="https://ieeexplore.ieee.org/document/10870250" TargetMode="External"/><Relationship Id="rId4" Type="http://schemas.openxmlformats.org/officeDocument/2006/relationships/hyperlink" Target="https://www.researchgate.net/publication/391974411_Advances_in_IoT_Intrusion_Detection_Deploying_Hybrid_Deep_Learning_and_Metaheuristic_Algorithms_for_Optimal_Feature_Selecti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752600" y="636670"/>
            <a:ext cx="8839200" cy="1145184"/>
          </a:xfrm>
          <a:prstGeom prst="rect">
            <a:avLst/>
          </a:prstGeom>
        </p:spPr>
        <p:txBody>
          <a:bodyPr vert="horz" wrap="square" lIns="0" tIns="64769" rIns="0" bIns="0" rtlCol="0">
            <a:spAutoFit/>
          </a:bodyPr>
          <a:lstStyle/>
          <a:p>
            <a:pPr algn="ctr">
              <a:lnSpc>
                <a:spcPct val="100000"/>
              </a:lnSpc>
              <a:spcBef>
                <a:spcPts val="509"/>
              </a:spcBef>
            </a:pPr>
            <a:r>
              <a:rPr sz="1800" spc="-10" dirty="0"/>
              <a:t>Department</a:t>
            </a:r>
            <a:r>
              <a:rPr sz="1800" spc="65" dirty="0"/>
              <a:t> </a:t>
            </a:r>
            <a:r>
              <a:rPr sz="1800" dirty="0"/>
              <a:t>of</a:t>
            </a:r>
            <a:r>
              <a:rPr sz="1800" spc="-10" dirty="0"/>
              <a:t> </a:t>
            </a:r>
            <a:r>
              <a:rPr sz="1800" spc="-20" dirty="0"/>
              <a:t>Computer</a:t>
            </a:r>
            <a:r>
              <a:rPr sz="1800" spc="90" dirty="0"/>
              <a:t> </a:t>
            </a:r>
            <a:r>
              <a:rPr sz="1800" dirty="0"/>
              <a:t>Science</a:t>
            </a:r>
            <a:r>
              <a:rPr sz="1800" spc="-60" dirty="0"/>
              <a:t> </a:t>
            </a:r>
            <a:r>
              <a:rPr sz="1800" spc="-10" dirty="0"/>
              <a:t>and</a:t>
            </a:r>
            <a:r>
              <a:rPr sz="1800" spc="40" dirty="0"/>
              <a:t> </a:t>
            </a:r>
            <a:r>
              <a:rPr sz="1800" dirty="0"/>
              <a:t>Engineering</a:t>
            </a:r>
          </a:p>
          <a:p>
            <a:pPr algn="ctr">
              <a:lnSpc>
                <a:spcPct val="100000"/>
              </a:lnSpc>
              <a:spcBef>
                <a:spcPts val="545"/>
              </a:spcBef>
            </a:pPr>
            <a:r>
              <a:rPr lang="en-IN" sz="2400" spc="5" dirty="0">
                <a:solidFill>
                  <a:srgbClr val="FF0000"/>
                </a:solidFill>
              </a:rPr>
              <a:t>Enhanced Hybrid Deep Learning Model for Cybersecurity Threat Detection Using CNN-</a:t>
            </a:r>
            <a:r>
              <a:rPr lang="en-IN" sz="2400" spc="5" dirty="0" err="1">
                <a:solidFill>
                  <a:srgbClr val="FF0000"/>
                </a:solidFill>
              </a:rPr>
              <a:t>BiLSTM</a:t>
            </a:r>
            <a:r>
              <a:rPr lang="en-IN" sz="2400" spc="5" dirty="0">
                <a:solidFill>
                  <a:srgbClr val="FF0000"/>
                </a:solidFill>
              </a:rPr>
              <a:t> and Feature Optimization</a:t>
            </a:r>
            <a:endParaRPr sz="2400" dirty="0"/>
          </a:p>
        </p:txBody>
      </p:sp>
      <p:sp>
        <p:nvSpPr>
          <p:cNvPr id="6" name="object 6"/>
          <p:cNvSpPr txBox="1"/>
          <p:nvPr/>
        </p:nvSpPr>
        <p:spPr>
          <a:xfrm>
            <a:off x="5106034" y="1871136"/>
            <a:ext cx="1503045" cy="266065"/>
          </a:xfrm>
          <a:prstGeom prst="rect">
            <a:avLst/>
          </a:prstGeom>
        </p:spPr>
        <p:txBody>
          <a:bodyPr vert="horz" wrap="square" lIns="0" tIns="15875" rIns="0" bIns="0" rtlCol="0">
            <a:spAutoFit/>
          </a:bodyPr>
          <a:lstStyle/>
          <a:p>
            <a:pPr marL="12700">
              <a:lnSpc>
                <a:spcPct val="100000"/>
              </a:lnSpc>
              <a:spcBef>
                <a:spcPts val="125"/>
              </a:spcBef>
            </a:pPr>
            <a:r>
              <a:rPr sz="1550" spc="5" dirty="0">
                <a:latin typeface="Times New Roman"/>
                <a:cs typeface="Times New Roman"/>
              </a:rPr>
              <a:t>PRESENTED</a:t>
            </a:r>
            <a:r>
              <a:rPr sz="1550" spc="120" dirty="0">
                <a:latin typeface="Times New Roman"/>
                <a:cs typeface="Times New Roman"/>
              </a:rPr>
              <a:t> </a:t>
            </a:r>
            <a:r>
              <a:rPr sz="1550" spc="15" dirty="0">
                <a:latin typeface="Times New Roman"/>
                <a:cs typeface="Times New Roman"/>
              </a:rPr>
              <a:t>BY</a:t>
            </a:r>
            <a:endParaRPr sz="1550" dirty="0">
              <a:latin typeface="Times New Roman"/>
              <a:cs typeface="Times New Roman"/>
            </a:endParaRPr>
          </a:p>
        </p:txBody>
      </p:sp>
      <p:sp>
        <p:nvSpPr>
          <p:cNvPr id="7" name="object 7"/>
          <p:cNvSpPr txBox="1"/>
          <p:nvPr/>
        </p:nvSpPr>
        <p:spPr>
          <a:xfrm>
            <a:off x="3815636" y="2262101"/>
            <a:ext cx="4560728" cy="1371658"/>
          </a:xfrm>
          <a:prstGeom prst="rect">
            <a:avLst/>
          </a:prstGeom>
        </p:spPr>
        <p:txBody>
          <a:bodyPr vert="horz" wrap="square" lIns="0" tIns="12065" rIns="0" bIns="0" rtlCol="0">
            <a:spAutoFit/>
          </a:bodyPr>
          <a:lstStyle/>
          <a:p>
            <a:pPr marL="12700" marR="5080" indent="8890">
              <a:lnSpc>
                <a:spcPct val="137300"/>
              </a:lnSpc>
              <a:spcBef>
                <a:spcPts val="95"/>
              </a:spcBef>
            </a:pPr>
            <a:r>
              <a:rPr lang="en-IN" sz="1600" spc="-10" dirty="0">
                <a:latin typeface="Times New Roman" panose="02020603050405020304" pitchFamily="18" charset="0"/>
                <a:cs typeface="Times New Roman" panose="02020603050405020304" pitchFamily="18" charset="0"/>
              </a:rPr>
              <a:t>Namburi Teja 	                  (22471A05I0)</a:t>
            </a:r>
          </a:p>
          <a:p>
            <a:pPr marL="12700" marR="5080" indent="8890">
              <a:lnSpc>
                <a:spcPct val="137300"/>
              </a:lnSpc>
              <a:spcBef>
                <a:spcPts val="95"/>
              </a:spcBef>
            </a:pPr>
            <a:r>
              <a:rPr lang="en-US" sz="1600" spc="-10" dirty="0">
                <a:latin typeface="Times New Roman" panose="02020603050405020304" pitchFamily="18" charset="0"/>
                <a:cs typeface="Times New Roman" panose="02020603050405020304" pitchFamily="18" charset="0"/>
              </a:rPr>
              <a:t>Kopparapu Siva Hemanth Kumar(22471A05G5)</a:t>
            </a:r>
            <a:endParaRPr lang="en-IN" sz="1600" spc="-20" dirty="0">
              <a:latin typeface="Times New Roman" panose="02020603050405020304" pitchFamily="18" charset="0"/>
              <a:cs typeface="Times New Roman" panose="02020603050405020304" pitchFamily="18" charset="0"/>
            </a:endParaRPr>
          </a:p>
          <a:p>
            <a:pPr marL="21590">
              <a:lnSpc>
                <a:spcPct val="100000"/>
              </a:lnSpc>
              <a:spcBef>
                <a:spcPts val="690"/>
              </a:spcBef>
            </a:pPr>
            <a:r>
              <a:rPr lang="en-IN" sz="1600" spc="-20" dirty="0" err="1">
                <a:latin typeface="Times New Roman" panose="02020603050405020304" pitchFamily="18" charset="0"/>
                <a:cs typeface="Times New Roman" panose="02020603050405020304" pitchFamily="18" charset="0"/>
              </a:rPr>
              <a:t>Jalukuri</a:t>
            </a:r>
            <a:r>
              <a:rPr lang="en-IN" sz="1600" spc="-20" dirty="0">
                <a:latin typeface="Times New Roman" panose="02020603050405020304" pitchFamily="18" charset="0"/>
                <a:cs typeface="Times New Roman" panose="02020603050405020304" pitchFamily="18" charset="0"/>
              </a:rPr>
              <a:t> Gopi 		(22471A05F8)</a:t>
            </a:r>
          </a:p>
          <a:p>
            <a:pPr marL="21590">
              <a:lnSpc>
                <a:spcPct val="100000"/>
              </a:lnSpc>
              <a:spcBef>
                <a:spcPts val="690"/>
              </a:spcBef>
            </a:pPr>
            <a:r>
              <a:rPr lang="en-IN" sz="1600" spc="-20" dirty="0" err="1">
                <a:latin typeface="Times New Roman" panose="02020603050405020304" pitchFamily="18" charset="0"/>
                <a:cs typeface="Times New Roman" panose="02020603050405020304" pitchFamily="18" charset="0"/>
              </a:rPr>
              <a:t>Vipparla</a:t>
            </a:r>
            <a:r>
              <a:rPr lang="en-IN" sz="1600" spc="-20" dirty="0">
                <a:latin typeface="Times New Roman" panose="02020603050405020304" pitchFamily="18" charset="0"/>
                <a:cs typeface="Times New Roman" panose="02020603050405020304" pitchFamily="18" charset="0"/>
              </a:rPr>
              <a:t> Chetan		(22471A05K6)</a:t>
            </a:r>
            <a:endParaRPr sz="16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3886201" y="4038600"/>
            <a:ext cx="4424426" cy="2230419"/>
          </a:xfrm>
          <a:prstGeom prst="rect">
            <a:avLst/>
          </a:prstGeom>
        </p:spPr>
        <p:txBody>
          <a:bodyPr vert="horz" wrap="square" lIns="0" tIns="20320" rIns="0" bIns="0" rtlCol="0">
            <a:spAutoFit/>
          </a:bodyPr>
          <a:lstStyle/>
          <a:p>
            <a:pPr marL="1022350" marR="1009650" algn="ctr">
              <a:lnSpc>
                <a:spcPct val="122000"/>
              </a:lnSpc>
              <a:spcBef>
                <a:spcPts val="160"/>
              </a:spcBef>
            </a:pPr>
            <a:r>
              <a:rPr sz="1800" spc="-15" dirty="0">
                <a:solidFill>
                  <a:srgbClr val="006600"/>
                </a:solidFill>
                <a:latin typeface="Times New Roman"/>
                <a:cs typeface="Times New Roman"/>
              </a:rPr>
              <a:t>Under</a:t>
            </a:r>
            <a:r>
              <a:rPr sz="1800" spc="50" dirty="0">
                <a:solidFill>
                  <a:srgbClr val="006600"/>
                </a:solidFill>
                <a:latin typeface="Times New Roman"/>
                <a:cs typeface="Times New Roman"/>
              </a:rPr>
              <a:t> </a:t>
            </a:r>
            <a:r>
              <a:rPr sz="1800" spc="5" dirty="0">
                <a:solidFill>
                  <a:srgbClr val="006600"/>
                </a:solidFill>
                <a:latin typeface="Times New Roman"/>
                <a:cs typeface="Times New Roman"/>
              </a:rPr>
              <a:t>the</a:t>
            </a:r>
            <a:r>
              <a:rPr sz="1800" spc="-65" dirty="0">
                <a:solidFill>
                  <a:srgbClr val="006600"/>
                </a:solidFill>
                <a:latin typeface="Times New Roman"/>
                <a:cs typeface="Times New Roman"/>
              </a:rPr>
              <a:t> </a:t>
            </a:r>
            <a:r>
              <a:rPr sz="1800" spc="-5" dirty="0">
                <a:solidFill>
                  <a:srgbClr val="006600"/>
                </a:solidFill>
                <a:latin typeface="Times New Roman"/>
                <a:cs typeface="Times New Roman"/>
              </a:rPr>
              <a:t>G</a:t>
            </a:r>
            <a:r>
              <a:rPr lang="en-IN" sz="1800" spc="-5" dirty="0" err="1">
                <a:solidFill>
                  <a:srgbClr val="006600"/>
                </a:solidFill>
                <a:latin typeface="Times New Roman"/>
                <a:cs typeface="Times New Roman"/>
              </a:rPr>
              <a:t>uidance</a:t>
            </a:r>
            <a:r>
              <a:rPr lang="en-IN" sz="1800" spc="5" dirty="0">
                <a:solidFill>
                  <a:srgbClr val="006600"/>
                </a:solidFill>
                <a:latin typeface="Times New Roman"/>
                <a:cs typeface="Times New Roman"/>
              </a:rPr>
              <a:t> </a:t>
            </a:r>
            <a:r>
              <a:rPr lang="en-IN" sz="1800" dirty="0">
                <a:solidFill>
                  <a:srgbClr val="006600"/>
                </a:solidFill>
                <a:latin typeface="Times New Roman"/>
                <a:cs typeface="Times New Roman"/>
              </a:rPr>
              <a:t>of</a:t>
            </a:r>
            <a:r>
              <a:rPr lang="en-IN" dirty="0">
                <a:solidFill>
                  <a:srgbClr val="006600"/>
                </a:solidFill>
                <a:latin typeface="Times New Roman"/>
                <a:cs typeface="Times New Roman"/>
              </a:rPr>
              <a:t>  </a:t>
            </a: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Dr. R.</a:t>
            </a:r>
            <a:r>
              <a:rPr lang="en-IN" sz="1400" b="1" dirty="0">
                <a:latin typeface="Times New Roman" panose="02020603050405020304" pitchFamily="18" charset="0"/>
                <a:cs typeface="Times New Roman" panose="02020603050405020304" pitchFamily="18" charset="0"/>
              </a:rPr>
              <a:t> Satheeskumar</a:t>
            </a:r>
            <a:r>
              <a:rPr lang="en-US" sz="1400" b="1" dirty="0">
                <a:effectLst/>
                <a:latin typeface="Times New Roman" panose="02020603050405020304" pitchFamily="18" charset="0"/>
                <a:ea typeface="Times New Roman" panose="02020603050405020304" pitchFamily="18" charset="0"/>
              </a:rPr>
              <a:t>, </a:t>
            </a:r>
            <a:r>
              <a:rPr lang="en-US" sz="1400" b="1" baseline="-25000" dirty="0" err="1">
                <a:effectLst/>
                <a:latin typeface="Times New Roman" panose="02020603050405020304" pitchFamily="18" charset="0"/>
                <a:ea typeface="Times New Roman" panose="02020603050405020304" pitchFamily="18" charset="0"/>
              </a:rPr>
              <a:t>M.Tech</a:t>
            </a:r>
            <a:r>
              <a:rPr lang="en-US" sz="1400" b="1" baseline="-25000" dirty="0">
                <a:effectLst/>
                <a:latin typeface="Times New Roman" panose="02020603050405020304" pitchFamily="18" charset="0"/>
                <a:ea typeface="Times New Roman" panose="02020603050405020304" pitchFamily="18" charset="0"/>
              </a:rPr>
              <a:t>., </a:t>
            </a:r>
            <a:r>
              <a:rPr lang="en-US" sz="1400" b="1" baseline="-25000" dirty="0" err="1">
                <a:effectLst/>
                <a:latin typeface="Times New Roman" panose="02020603050405020304" pitchFamily="18" charset="0"/>
                <a:ea typeface="Times New Roman" panose="02020603050405020304" pitchFamily="18" charset="0"/>
              </a:rPr>
              <a:t>Ph.D</a:t>
            </a:r>
            <a:endParaRPr lang="en-US" sz="1400" b="1" baseline="-25000" dirty="0">
              <a:effectLst/>
              <a:latin typeface="Times New Roman" panose="02020603050405020304" pitchFamily="18" charset="0"/>
              <a:ea typeface="Times New Roman" panose="02020603050405020304" pitchFamily="18" charset="0"/>
            </a:endParaRPr>
          </a:p>
          <a:p>
            <a:pPr marR="292735" algn="ctr">
              <a:lnSpc>
                <a:spcPct val="150000"/>
              </a:lnSpc>
              <a:spcBef>
                <a:spcPts val="50"/>
              </a:spcBef>
              <a:spcAft>
                <a:spcPts val="0"/>
              </a:spcAft>
            </a:pPr>
            <a:r>
              <a:rPr lang="en-US" sz="1400" b="1" dirty="0">
                <a:effectLst/>
                <a:latin typeface="Times New Roman" panose="02020603050405020304" pitchFamily="18" charset="0"/>
                <a:ea typeface="Times New Roman" panose="02020603050405020304" pitchFamily="18" charset="0"/>
              </a:rPr>
              <a:t>        </a:t>
            </a:r>
            <a:r>
              <a:rPr lang="en-IN" sz="1550" spc="-5" dirty="0">
                <a:latin typeface="Times New Roman"/>
                <a:cs typeface="Times New Roman"/>
              </a:rPr>
              <a:t>Professor</a:t>
            </a:r>
            <a:r>
              <a:rPr lang="en-IN" sz="1550" b="1" dirty="0">
                <a:latin typeface="Times New Roman"/>
                <a:cs typeface="Times New Roman"/>
              </a:rPr>
              <a:t> </a:t>
            </a:r>
            <a:endParaRPr lang="en-IN" sz="1550" dirty="0">
              <a:latin typeface="Times New Roman"/>
              <a:cs typeface="Times New Roman"/>
            </a:endParaRPr>
          </a:p>
          <a:p>
            <a:pPr algn="ctr">
              <a:lnSpc>
                <a:spcPct val="100000"/>
              </a:lnSpc>
              <a:spcBef>
                <a:spcPts val="1070"/>
              </a:spcBef>
            </a:pPr>
            <a:r>
              <a:rPr sz="1550" spc="-10" dirty="0">
                <a:solidFill>
                  <a:srgbClr val="888888"/>
                </a:solidFill>
                <a:latin typeface="Times New Roman"/>
                <a:cs typeface="Times New Roman"/>
              </a:rPr>
              <a:t>Department</a:t>
            </a:r>
            <a:r>
              <a:rPr sz="1550" spc="290" dirty="0">
                <a:solidFill>
                  <a:srgbClr val="888888"/>
                </a:solidFill>
                <a:latin typeface="Times New Roman"/>
                <a:cs typeface="Times New Roman"/>
              </a:rPr>
              <a:t> </a:t>
            </a:r>
            <a:r>
              <a:rPr sz="1550" spc="25" dirty="0">
                <a:solidFill>
                  <a:srgbClr val="888888"/>
                </a:solidFill>
                <a:latin typeface="Times New Roman"/>
                <a:cs typeface="Times New Roman"/>
              </a:rPr>
              <a:t>of</a:t>
            </a:r>
            <a:r>
              <a:rPr sz="1550" spc="-15" dirty="0">
                <a:solidFill>
                  <a:srgbClr val="888888"/>
                </a:solidFill>
                <a:latin typeface="Times New Roman"/>
                <a:cs typeface="Times New Roman"/>
              </a:rPr>
              <a:t> </a:t>
            </a:r>
            <a:r>
              <a:rPr sz="1550" spc="10" dirty="0">
                <a:solidFill>
                  <a:srgbClr val="888888"/>
                </a:solidFill>
                <a:latin typeface="Times New Roman"/>
                <a:cs typeface="Times New Roman"/>
              </a:rPr>
              <a:t>Computer</a:t>
            </a:r>
            <a:r>
              <a:rPr sz="1550" spc="135" dirty="0">
                <a:solidFill>
                  <a:srgbClr val="888888"/>
                </a:solidFill>
                <a:latin typeface="Times New Roman"/>
                <a:cs typeface="Times New Roman"/>
              </a:rPr>
              <a:t> </a:t>
            </a:r>
            <a:r>
              <a:rPr sz="1550" spc="-15" dirty="0">
                <a:solidFill>
                  <a:srgbClr val="888888"/>
                </a:solidFill>
                <a:latin typeface="Times New Roman"/>
                <a:cs typeface="Times New Roman"/>
              </a:rPr>
              <a:t>Science</a:t>
            </a:r>
            <a:r>
              <a:rPr sz="1550" spc="260" dirty="0">
                <a:solidFill>
                  <a:srgbClr val="888888"/>
                </a:solidFill>
                <a:latin typeface="Times New Roman"/>
                <a:cs typeface="Times New Roman"/>
              </a:rPr>
              <a:t> </a:t>
            </a:r>
            <a:r>
              <a:rPr sz="1550" spc="-10" dirty="0">
                <a:solidFill>
                  <a:srgbClr val="888888"/>
                </a:solidFill>
                <a:latin typeface="Times New Roman"/>
                <a:cs typeface="Times New Roman"/>
              </a:rPr>
              <a:t>and</a:t>
            </a:r>
            <a:r>
              <a:rPr sz="1550" spc="90" dirty="0">
                <a:solidFill>
                  <a:srgbClr val="888888"/>
                </a:solidFill>
                <a:latin typeface="Times New Roman"/>
                <a:cs typeface="Times New Roman"/>
              </a:rPr>
              <a:t> </a:t>
            </a:r>
            <a:r>
              <a:rPr sz="1550" spc="-10" dirty="0">
                <a:solidFill>
                  <a:srgbClr val="888888"/>
                </a:solidFill>
                <a:latin typeface="Times New Roman"/>
                <a:cs typeface="Times New Roman"/>
              </a:rPr>
              <a:t>Engineering,</a:t>
            </a:r>
            <a:endParaRPr sz="1550" dirty="0">
              <a:latin typeface="Times New Roman"/>
              <a:cs typeface="Times New Roman"/>
            </a:endParaRPr>
          </a:p>
          <a:p>
            <a:pPr marL="12700" marR="5080" algn="ctr">
              <a:lnSpc>
                <a:spcPct val="173700"/>
              </a:lnSpc>
              <a:spcBef>
                <a:spcPts val="70"/>
              </a:spcBef>
            </a:pPr>
            <a:r>
              <a:rPr sz="1550" spc="-5" dirty="0">
                <a:solidFill>
                  <a:srgbClr val="888888"/>
                </a:solidFill>
                <a:latin typeface="Times New Roman"/>
                <a:cs typeface="Times New Roman"/>
              </a:rPr>
              <a:t>Narasaraopeta</a:t>
            </a:r>
            <a:r>
              <a:rPr sz="1550" dirty="0">
                <a:solidFill>
                  <a:srgbClr val="888888"/>
                </a:solidFill>
                <a:latin typeface="Times New Roman"/>
                <a:cs typeface="Times New Roman"/>
              </a:rPr>
              <a:t> </a:t>
            </a:r>
            <a:r>
              <a:rPr sz="1550" spc="-10" dirty="0">
                <a:solidFill>
                  <a:srgbClr val="888888"/>
                </a:solidFill>
                <a:latin typeface="Times New Roman"/>
                <a:cs typeface="Times New Roman"/>
              </a:rPr>
              <a:t>Engineering</a:t>
            </a:r>
            <a:r>
              <a:rPr sz="1550" spc="-5" dirty="0">
                <a:solidFill>
                  <a:srgbClr val="888888"/>
                </a:solidFill>
                <a:latin typeface="Times New Roman"/>
                <a:cs typeface="Times New Roman"/>
              </a:rPr>
              <a:t> </a:t>
            </a:r>
            <a:r>
              <a:rPr sz="1550" spc="5" dirty="0">
                <a:solidFill>
                  <a:srgbClr val="888888"/>
                </a:solidFill>
                <a:latin typeface="Times New Roman"/>
                <a:cs typeface="Times New Roman"/>
              </a:rPr>
              <a:t>College </a:t>
            </a:r>
            <a:r>
              <a:rPr sz="1550" spc="10" dirty="0">
                <a:solidFill>
                  <a:srgbClr val="888888"/>
                </a:solidFill>
                <a:latin typeface="Times New Roman"/>
                <a:cs typeface="Times New Roman"/>
              </a:rPr>
              <a:t>(Autonomous), </a:t>
            </a:r>
            <a:r>
              <a:rPr sz="1550" spc="-375" dirty="0">
                <a:solidFill>
                  <a:srgbClr val="888888"/>
                </a:solidFill>
                <a:latin typeface="Times New Roman"/>
                <a:cs typeface="Times New Roman"/>
              </a:rPr>
              <a:t> </a:t>
            </a:r>
            <a:r>
              <a:rPr sz="1550" spc="-5" dirty="0">
                <a:solidFill>
                  <a:srgbClr val="888888"/>
                </a:solidFill>
                <a:latin typeface="Times New Roman"/>
                <a:cs typeface="Times New Roman"/>
              </a:rPr>
              <a:t>Narasaraopet-</a:t>
            </a:r>
            <a:r>
              <a:rPr sz="1550" spc="285" dirty="0">
                <a:solidFill>
                  <a:srgbClr val="888888"/>
                </a:solidFill>
                <a:latin typeface="Times New Roman"/>
                <a:cs typeface="Times New Roman"/>
              </a:rPr>
              <a:t> </a:t>
            </a:r>
            <a:r>
              <a:rPr sz="1550" spc="30" dirty="0">
                <a:solidFill>
                  <a:srgbClr val="888888"/>
                </a:solidFill>
                <a:latin typeface="Times New Roman"/>
                <a:cs typeface="Times New Roman"/>
              </a:rPr>
              <a:t>522</a:t>
            </a:r>
            <a:r>
              <a:rPr sz="1550" spc="20" dirty="0">
                <a:solidFill>
                  <a:srgbClr val="888888"/>
                </a:solidFill>
                <a:latin typeface="Times New Roman"/>
                <a:cs typeface="Times New Roman"/>
              </a:rPr>
              <a:t> </a:t>
            </a:r>
            <a:r>
              <a:rPr sz="1550" spc="30" dirty="0">
                <a:solidFill>
                  <a:srgbClr val="888888"/>
                </a:solidFill>
                <a:latin typeface="Times New Roman"/>
                <a:cs typeface="Times New Roman"/>
              </a:rPr>
              <a:t>601.</a:t>
            </a:r>
            <a:endParaRPr sz="1550" dirty="0">
              <a:latin typeface="Times New Roman"/>
              <a:cs typeface="Times New Roman"/>
            </a:endParaRPr>
          </a:p>
        </p:txBody>
      </p:sp>
      <p:pic>
        <p:nvPicPr>
          <p:cNvPr id="10" name="object 10"/>
          <p:cNvPicPr/>
          <p:nvPr/>
        </p:nvPicPr>
        <p:blipFill>
          <a:blip r:embed="rId2" cstate="print"/>
          <a:stretch>
            <a:fillRect/>
          </a:stretch>
        </p:blipFill>
        <p:spPr>
          <a:xfrm>
            <a:off x="66675" y="131344"/>
            <a:ext cx="3648074" cy="505326"/>
          </a:xfrm>
          <a:prstGeom prst="rect">
            <a:avLst/>
          </a:prstGeom>
        </p:spPr>
      </p:pic>
      <p:sp>
        <p:nvSpPr>
          <p:cNvPr id="11" name="object 11"/>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a:t>
            </a:r>
            <a:r>
              <a:rPr spc="5" dirty="0"/>
              <a:t>-</a:t>
            </a:r>
            <a:r>
              <a:rPr lang="en-IN" spc="5" dirty="0"/>
              <a:t>12</a:t>
            </a:r>
            <a:r>
              <a:rPr spc="5" dirty="0"/>
              <a:t>-202</a:t>
            </a:r>
            <a:r>
              <a:rPr lang="en-IN" spc="5" dirty="0"/>
              <a:t>5</a:t>
            </a:r>
            <a:endParaRPr spc="5" dirty="0"/>
          </a:p>
        </p:txBody>
      </p:sp>
      <p:sp>
        <p:nvSpPr>
          <p:cNvPr id="12" name="object 12"/>
          <p:cNvSpPr txBox="1"/>
          <p:nvPr/>
        </p:nvSpPr>
        <p:spPr>
          <a:xfrm>
            <a:off x="4350003" y="6451049"/>
            <a:ext cx="83439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0"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13" name="object 13"/>
          <p:cNvSpPr txBox="1"/>
          <p:nvPr/>
        </p:nvSpPr>
        <p:spPr>
          <a:xfrm>
            <a:off x="5530658" y="6451049"/>
            <a:ext cx="1078421" cy="179536"/>
          </a:xfrm>
          <a:prstGeom prst="rect">
            <a:avLst/>
          </a:prstGeom>
        </p:spPr>
        <p:txBody>
          <a:bodyPr vert="horz" wrap="square" lIns="0" tIns="0" rIns="0" bIns="0" rtlCol="0">
            <a:spAutoFit/>
          </a:bodyPr>
          <a:lstStyle/>
          <a:p>
            <a:pPr marL="12700">
              <a:lnSpc>
                <a:spcPts val="1410"/>
              </a:lnSpc>
            </a:pPr>
            <a:r>
              <a:rPr sz="1200" spc="-20" dirty="0">
                <a:solidFill>
                  <a:srgbClr val="888888"/>
                </a:solidFill>
                <a:latin typeface="Times New Roman"/>
                <a:cs typeface="Times New Roman"/>
              </a:rPr>
              <a:t>Batch</a:t>
            </a:r>
            <a:r>
              <a:rPr sz="1200" spc="80"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14" name="object 14"/>
          <p:cNvSpPr txBox="1"/>
          <p:nvPr/>
        </p:nvSpPr>
        <p:spPr>
          <a:xfrm>
            <a:off x="6609080" y="6451049"/>
            <a:ext cx="1242060" cy="194310"/>
          </a:xfrm>
          <a:prstGeom prst="rect">
            <a:avLst/>
          </a:prstGeom>
        </p:spPr>
        <p:txBody>
          <a:bodyPr vert="horz" wrap="square" lIns="0" tIns="0" rIns="0" bIns="0" rtlCol="0">
            <a:spAutoFit/>
          </a:bodyPr>
          <a:lstStyle/>
          <a:p>
            <a:pPr marL="12700">
              <a:lnSpc>
                <a:spcPts val="1410"/>
              </a:lnSpc>
            </a:pPr>
            <a:r>
              <a:rPr sz="1200" spc="-35" dirty="0">
                <a:solidFill>
                  <a:srgbClr val="888888"/>
                </a:solidFill>
                <a:latin typeface="Times New Roman"/>
                <a:cs typeface="Times New Roman"/>
              </a:rPr>
              <a:t>Department</a:t>
            </a:r>
            <a:r>
              <a:rPr sz="1200" spc="295" dirty="0">
                <a:solidFill>
                  <a:srgbClr val="888888"/>
                </a:solidFill>
                <a:latin typeface="Times New Roman"/>
                <a:cs typeface="Times New Roman"/>
              </a:rPr>
              <a:t> </a:t>
            </a:r>
            <a:r>
              <a:rPr sz="1200" dirty="0">
                <a:solidFill>
                  <a:srgbClr val="888888"/>
                </a:solidFill>
                <a:latin typeface="Times New Roman"/>
                <a:cs typeface="Times New Roman"/>
              </a:rPr>
              <a:t>of</a:t>
            </a:r>
            <a:r>
              <a:rPr sz="1200" spc="25" dirty="0">
                <a:solidFill>
                  <a:srgbClr val="888888"/>
                </a:solidFill>
                <a:latin typeface="Times New Roman"/>
                <a:cs typeface="Times New Roman"/>
              </a:rPr>
              <a:t> </a:t>
            </a:r>
            <a:r>
              <a:rPr sz="1200" spc="5" dirty="0">
                <a:solidFill>
                  <a:srgbClr val="888888"/>
                </a:solidFill>
                <a:latin typeface="Times New Roman"/>
                <a:cs typeface="Times New Roman"/>
              </a:rPr>
              <a:t>CSE</a:t>
            </a:r>
            <a:endParaRPr sz="1200">
              <a:latin typeface="Times New Roman"/>
              <a:cs typeface="Times New Roman"/>
            </a:endParaRPr>
          </a:p>
        </p:txBody>
      </p:sp>
      <p:sp>
        <p:nvSpPr>
          <p:cNvPr id="15" name="object 15"/>
          <p:cNvSpPr txBox="1"/>
          <p:nvPr/>
        </p:nvSpPr>
        <p:spPr>
          <a:xfrm>
            <a:off x="11184001" y="6451049"/>
            <a:ext cx="101600" cy="179536"/>
          </a:xfrm>
          <a:prstGeom prst="rect">
            <a:avLst/>
          </a:prstGeom>
        </p:spPr>
        <p:txBody>
          <a:bodyPr vert="horz" wrap="square" lIns="0" tIns="0" rIns="0" bIns="0" rtlCol="0">
            <a:spAutoFit/>
          </a:bodyPr>
          <a:lstStyle/>
          <a:p>
            <a:pPr marL="12700">
              <a:lnSpc>
                <a:spcPts val="1410"/>
              </a:lnSpc>
            </a:pPr>
            <a:r>
              <a:rPr lang="en-US" sz="1200" dirty="0">
                <a:solidFill>
                  <a:srgbClr val="888888"/>
                </a:solidFill>
                <a:latin typeface="Times New Roman"/>
                <a:cs typeface="Times New Roman"/>
              </a:rPr>
              <a:t>1</a:t>
            </a:r>
            <a:endParaRPr sz="1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95800" y="457200"/>
            <a:ext cx="3276246" cy="693780"/>
          </a:xfrm>
          <a:prstGeom prst="rect">
            <a:avLst/>
          </a:prstGeom>
        </p:spPr>
        <p:txBody>
          <a:bodyPr vert="horz" wrap="square" lIns="0" tIns="16510" rIns="0" bIns="0" rtlCol="0">
            <a:spAutoFit/>
          </a:bodyPr>
          <a:lstStyle/>
          <a:p>
            <a:pPr marL="12700" algn="ctr">
              <a:lnSpc>
                <a:spcPct val="100000"/>
              </a:lnSpc>
              <a:spcBef>
                <a:spcPts val="130"/>
              </a:spcBef>
            </a:pPr>
            <a:r>
              <a:rPr spc="15" dirty="0"/>
              <a:t>OUTLINE</a:t>
            </a:r>
          </a:p>
        </p:txBody>
      </p:sp>
      <p:sp>
        <p:nvSpPr>
          <p:cNvPr id="4" name="object 4"/>
          <p:cNvSpPr txBox="1">
            <a:spLocks noGrp="1"/>
          </p:cNvSpPr>
          <p:nvPr>
            <p:ph type="dt" sz="half" idx="6"/>
          </p:nvPr>
        </p:nvSpPr>
        <p:spPr>
          <a:xfrm>
            <a:off x="917575" y="6451049"/>
            <a:ext cx="91122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426329" y="6451049"/>
            <a:ext cx="911225"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6" name="object 6"/>
          <p:cNvSpPr txBox="1"/>
          <p:nvPr/>
        </p:nvSpPr>
        <p:spPr>
          <a:xfrm>
            <a:off x="5492331" y="6451049"/>
            <a:ext cx="1037656"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a:t>
            </a:fld>
            <a:endParaRPr dirty="0"/>
          </a:p>
        </p:txBody>
      </p:sp>
      <p:sp>
        <p:nvSpPr>
          <p:cNvPr id="3" name="object 3"/>
          <p:cNvSpPr txBox="1"/>
          <p:nvPr/>
        </p:nvSpPr>
        <p:spPr>
          <a:xfrm>
            <a:off x="970561" y="1295400"/>
            <a:ext cx="5559426" cy="4530727"/>
          </a:xfrm>
          <a:prstGeom prst="rect">
            <a:avLst/>
          </a:prstGeom>
        </p:spPr>
        <p:txBody>
          <a:bodyPr vert="horz" wrap="square" lIns="0" tIns="62230" rIns="0" bIns="0" rtlCol="0">
            <a:spAutoFit/>
          </a:bodyPr>
          <a:lstStyle/>
          <a:p>
            <a:pPr marL="527685" indent="-514984">
              <a:lnSpc>
                <a:spcPct val="100000"/>
              </a:lnSpc>
              <a:spcBef>
                <a:spcPts val="490"/>
              </a:spcBef>
              <a:buAutoNum type="arabicPeriod"/>
              <a:tabLst>
                <a:tab pos="527050" algn="l"/>
                <a:tab pos="527685" algn="l"/>
              </a:tabLst>
            </a:pPr>
            <a:r>
              <a:rPr sz="1800" dirty="0">
                <a:latin typeface="Times New Roman"/>
                <a:cs typeface="Times New Roman"/>
              </a:rPr>
              <a:t>Abstract</a:t>
            </a:r>
          </a:p>
          <a:p>
            <a:pPr marL="527685" indent="-514984">
              <a:lnSpc>
                <a:spcPct val="100000"/>
              </a:lnSpc>
              <a:spcBef>
                <a:spcPts val="390"/>
              </a:spcBef>
              <a:buAutoNum type="arabicPeriod"/>
              <a:tabLst>
                <a:tab pos="527050" algn="l"/>
                <a:tab pos="527685" algn="l"/>
              </a:tabLst>
            </a:pPr>
            <a:r>
              <a:rPr sz="1800" dirty="0">
                <a:latin typeface="Times New Roman"/>
                <a:cs typeface="Times New Roman"/>
              </a:rPr>
              <a:t>Introduction</a:t>
            </a:r>
          </a:p>
          <a:p>
            <a:pPr marL="527685" indent="-514984">
              <a:spcBef>
                <a:spcPts val="320"/>
              </a:spcBef>
              <a:buFontTx/>
              <a:buAutoNum type="arabicPeriod"/>
              <a:tabLst>
                <a:tab pos="527050" algn="l"/>
                <a:tab pos="527685" algn="l"/>
              </a:tabLst>
            </a:pPr>
            <a:r>
              <a:rPr lang="en-IN" sz="1800" dirty="0">
                <a:latin typeface="Times New Roman"/>
                <a:cs typeface="Times New Roman"/>
              </a:rPr>
              <a:t>Problem</a:t>
            </a:r>
            <a:r>
              <a:rPr lang="en-IN" sz="1800" spc="-75" dirty="0">
                <a:latin typeface="Times New Roman"/>
                <a:cs typeface="Times New Roman"/>
              </a:rPr>
              <a:t> </a:t>
            </a:r>
            <a:r>
              <a:rPr lang="en-IN" sz="1800" spc="-10" dirty="0">
                <a:latin typeface="Times New Roman"/>
                <a:cs typeface="Times New Roman"/>
              </a:rPr>
              <a:t>Statement</a:t>
            </a:r>
            <a:endParaRPr sz="1800" dirty="0">
              <a:latin typeface="Times New Roman"/>
              <a:cs typeface="Times New Roman"/>
            </a:endParaRPr>
          </a:p>
          <a:p>
            <a:pPr marL="527685" indent="-514984">
              <a:lnSpc>
                <a:spcPct val="100000"/>
              </a:lnSpc>
              <a:spcBef>
                <a:spcPts val="395"/>
              </a:spcBef>
              <a:buAutoNum type="arabicPeriod"/>
              <a:tabLst>
                <a:tab pos="527050" algn="l"/>
                <a:tab pos="527685" algn="l"/>
              </a:tabLst>
            </a:pPr>
            <a:r>
              <a:rPr lang="en-IN" sz="1800" spc="5" dirty="0">
                <a:latin typeface="Times New Roman"/>
                <a:cs typeface="Times New Roman"/>
              </a:rPr>
              <a:t>Literature</a:t>
            </a:r>
            <a:r>
              <a:rPr lang="en-IN" sz="1800" spc="-95" dirty="0">
                <a:latin typeface="Times New Roman"/>
                <a:cs typeface="Times New Roman"/>
              </a:rPr>
              <a:t> </a:t>
            </a:r>
            <a:r>
              <a:rPr lang="en-IN" sz="1800" spc="-15" dirty="0">
                <a:latin typeface="Times New Roman"/>
                <a:cs typeface="Times New Roman"/>
              </a:rPr>
              <a:t>Survey</a:t>
            </a:r>
            <a:endParaRPr sz="1800" dirty="0">
              <a:latin typeface="Times New Roman"/>
              <a:cs typeface="Times New Roman"/>
            </a:endParaRPr>
          </a:p>
          <a:p>
            <a:pPr marL="527685" indent="-514984">
              <a:lnSpc>
                <a:spcPct val="100000"/>
              </a:lnSpc>
              <a:spcBef>
                <a:spcPts val="320"/>
              </a:spcBef>
              <a:buAutoNum type="arabicPeriod"/>
              <a:tabLst>
                <a:tab pos="527050" algn="l"/>
                <a:tab pos="527685" algn="l"/>
              </a:tabLst>
            </a:pPr>
            <a:r>
              <a:rPr lang="en-IN" sz="1800" spc="5" dirty="0">
                <a:latin typeface="Times New Roman"/>
                <a:cs typeface="Times New Roman"/>
              </a:rPr>
              <a:t>Research</a:t>
            </a:r>
            <a:r>
              <a:rPr lang="en-IN" sz="1800" spc="-110" dirty="0">
                <a:latin typeface="Times New Roman"/>
                <a:cs typeface="Times New Roman"/>
              </a:rPr>
              <a:t> </a:t>
            </a:r>
            <a:r>
              <a:rPr lang="en-IN" sz="1800" spc="-5" dirty="0">
                <a:latin typeface="Times New Roman"/>
                <a:cs typeface="Times New Roman"/>
              </a:rPr>
              <a:t>Gaps </a:t>
            </a:r>
            <a:endParaRPr sz="1800" dirty="0">
              <a:latin typeface="Times New Roman"/>
              <a:cs typeface="Times New Roman"/>
            </a:endParaRPr>
          </a:p>
          <a:p>
            <a:pPr marL="527685" indent="-514984">
              <a:lnSpc>
                <a:spcPct val="100000"/>
              </a:lnSpc>
              <a:spcBef>
                <a:spcPts val="390"/>
              </a:spcBef>
              <a:buAutoNum type="arabicPeriod"/>
              <a:tabLst>
                <a:tab pos="527050" algn="l"/>
                <a:tab pos="527685" algn="l"/>
              </a:tabLst>
            </a:pPr>
            <a:r>
              <a:rPr sz="1800" spc="-5" dirty="0">
                <a:latin typeface="Times New Roman"/>
                <a:cs typeface="Times New Roman"/>
              </a:rPr>
              <a:t>Objectives</a:t>
            </a:r>
            <a:endParaRPr sz="1800" dirty="0">
              <a:latin typeface="Times New Roman"/>
              <a:cs typeface="Times New Roman"/>
            </a:endParaRPr>
          </a:p>
          <a:p>
            <a:pPr marL="527685" indent="-514984">
              <a:spcBef>
                <a:spcPts val="320"/>
              </a:spcBef>
              <a:buFontTx/>
              <a:buAutoNum type="arabicPeriod"/>
              <a:tabLst>
                <a:tab pos="527050" algn="l"/>
                <a:tab pos="527685" algn="l"/>
              </a:tabLst>
            </a:pPr>
            <a:r>
              <a:rPr lang="en-IN" sz="1800" spc="-15" dirty="0">
                <a:latin typeface="Times New Roman"/>
                <a:cs typeface="Times New Roman"/>
              </a:rPr>
              <a:t>Methodology</a:t>
            </a:r>
            <a:r>
              <a:rPr lang="en-IN" sz="1800" spc="-20" dirty="0">
                <a:latin typeface="Times New Roman"/>
                <a:cs typeface="Times New Roman"/>
              </a:rPr>
              <a:t> </a:t>
            </a:r>
            <a:endParaRPr sz="1800" dirty="0">
              <a:latin typeface="Times New Roman"/>
              <a:cs typeface="Times New Roman"/>
            </a:endParaRPr>
          </a:p>
          <a:p>
            <a:pPr marL="527685" indent="-514984">
              <a:lnSpc>
                <a:spcPct val="100000"/>
              </a:lnSpc>
              <a:spcBef>
                <a:spcPts val="390"/>
              </a:spcBef>
              <a:buAutoNum type="arabicPeriod"/>
              <a:tabLst>
                <a:tab pos="527050" algn="l"/>
                <a:tab pos="527685" algn="l"/>
              </a:tabLst>
            </a:pPr>
            <a:r>
              <a:rPr lang="en-IN" sz="1800" spc="-10" dirty="0">
                <a:latin typeface="Times New Roman"/>
                <a:cs typeface="Times New Roman"/>
              </a:rPr>
              <a:t>Block</a:t>
            </a:r>
            <a:r>
              <a:rPr lang="en-IN" sz="1800" spc="-5" dirty="0">
                <a:latin typeface="Times New Roman"/>
                <a:cs typeface="Times New Roman"/>
              </a:rPr>
              <a:t> </a:t>
            </a:r>
            <a:r>
              <a:rPr lang="en-IN" sz="1800" spc="-20" dirty="0">
                <a:latin typeface="Times New Roman"/>
                <a:cs typeface="Times New Roman"/>
              </a:rPr>
              <a:t>Diagram</a:t>
            </a:r>
            <a:r>
              <a:rPr lang="en-IN" sz="1800" spc="90" dirty="0">
                <a:latin typeface="Times New Roman"/>
                <a:cs typeface="Times New Roman"/>
              </a:rPr>
              <a:t> </a:t>
            </a:r>
            <a:r>
              <a:rPr lang="en-IN" sz="1800" dirty="0">
                <a:latin typeface="Times New Roman"/>
                <a:cs typeface="Times New Roman"/>
              </a:rPr>
              <a:t>/</a:t>
            </a:r>
            <a:r>
              <a:rPr lang="en-IN" sz="1800" spc="20" dirty="0">
                <a:latin typeface="Times New Roman"/>
                <a:cs typeface="Times New Roman"/>
              </a:rPr>
              <a:t> </a:t>
            </a:r>
            <a:r>
              <a:rPr lang="en-IN" sz="1800" spc="-25" dirty="0">
                <a:latin typeface="Times New Roman"/>
                <a:cs typeface="Times New Roman"/>
              </a:rPr>
              <a:t>Flow</a:t>
            </a:r>
            <a:r>
              <a:rPr lang="en-IN" sz="1800" spc="40" dirty="0">
                <a:latin typeface="Times New Roman"/>
                <a:cs typeface="Times New Roman"/>
              </a:rPr>
              <a:t> </a:t>
            </a:r>
            <a:r>
              <a:rPr lang="en-IN" sz="1800" spc="-20" dirty="0">
                <a:latin typeface="Times New Roman"/>
                <a:cs typeface="Times New Roman"/>
              </a:rPr>
              <a:t>Diagram </a:t>
            </a:r>
            <a:endParaRPr sz="1800" dirty="0">
              <a:latin typeface="Times New Roman"/>
              <a:cs typeface="Times New Roman"/>
            </a:endParaRPr>
          </a:p>
          <a:p>
            <a:pPr marL="527685" indent="-514984">
              <a:lnSpc>
                <a:spcPct val="100000"/>
              </a:lnSpc>
              <a:spcBef>
                <a:spcPts val="320"/>
              </a:spcBef>
              <a:buAutoNum type="arabicPeriod"/>
              <a:tabLst>
                <a:tab pos="527050" algn="l"/>
                <a:tab pos="527685" algn="l"/>
              </a:tabLst>
            </a:pPr>
            <a:r>
              <a:rPr sz="1800" spc="-10" dirty="0">
                <a:latin typeface="Times New Roman"/>
                <a:cs typeface="Times New Roman"/>
              </a:rPr>
              <a:t>Implementation</a:t>
            </a:r>
            <a:endParaRPr sz="1800" dirty="0">
              <a:latin typeface="Times New Roman"/>
              <a:cs typeface="Times New Roman"/>
            </a:endParaRPr>
          </a:p>
          <a:p>
            <a:pPr marL="527685" indent="-514984">
              <a:lnSpc>
                <a:spcPct val="100000"/>
              </a:lnSpc>
              <a:spcBef>
                <a:spcPts val="395"/>
              </a:spcBef>
              <a:buAutoNum type="arabicPeriod"/>
              <a:tabLst>
                <a:tab pos="527050" algn="l"/>
                <a:tab pos="527685" algn="l"/>
              </a:tabLst>
            </a:pPr>
            <a:r>
              <a:rPr sz="1800" dirty="0">
                <a:latin typeface="Times New Roman"/>
                <a:cs typeface="Times New Roman"/>
              </a:rPr>
              <a:t>R</a:t>
            </a:r>
            <a:r>
              <a:rPr sz="1800" spc="15" dirty="0">
                <a:latin typeface="Times New Roman"/>
                <a:cs typeface="Times New Roman"/>
              </a:rPr>
              <a:t>e</a:t>
            </a:r>
            <a:r>
              <a:rPr sz="1800" spc="-30" dirty="0">
                <a:latin typeface="Times New Roman"/>
                <a:cs typeface="Times New Roman"/>
              </a:rPr>
              <a:t>s</a:t>
            </a:r>
            <a:r>
              <a:rPr sz="1800" dirty="0">
                <a:latin typeface="Times New Roman"/>
                <a:cs typeface="Times New Roman"/>
              </a:rPr>
              <a:t>u</a:t>
            </a:r>
            <a:r>
              <a:rPr sz="1800" spc="-55" dirty="0">
                <a:latin typeface="Times New Roman"/>
                <a:cs typeface="Times New Roman"/>
              </a:rPr>
              <a:t>l</a:t>
            </a:r>
            <a:r>
              <a:rPr sz="1800" spc="20" dirty="0">
                <a:latin typeface="Times New Roman"/>
                <a:cs typeface="Times New Roman"/>
              </a:rPr>
              <a:t>t</a:t>
            </a:r>
            <a:r>
              <a:rPr sz="1800" dirty="0">
                <a:latin typeface="Times New Roman"/>
                <a:cs typeface="Times New Roman"/>
              </a:rPr>
              <a:t>s</a:t>
            </a:r>
            <a:r>
              <a:rPr sz="1800" spc="45" dirty="0">
                <a:latin typeface="Times New Roman"/>
                <a:cs typeface="Times New Roman"/>
              </a:rPr>
              <a:t> </a:t>
            </a:r>
            <a:r>
              <a:rPr sz="1800" spc="20" dirty="0">
                <a:latin typeface="Times New Roman"/>
                <a:cs typeface="Times New Roman"/>
              </a:rPr>
              <a:t>a</a:t>
            </a:r>
            <a:r>
              <a:rPr sz="1800" dirty="0">
                <a:latin typeface="Times New Roman"/>
                <a:cs typeface="Times New Roman"/>
              </a:rPr>
              <a:t>nd</a:t>
            </a:r>
            <a:r>
              <a:rPr sz="1800" spc="-155" dirty="0">
                <a:latin typeface="Times New Roman"/>
                <a:cs typeface="Times New Roman"/>
              </a:rPr>
              <a:t> </a:t>
            </a:r>
            <a:r>
              <a:rPr sz="1800" spc="-30" dirty="0">
                <a:latin typeface="Times New Roman"/>
                <a:cs typeface="Times New Roman"/>
              </a:rPr>
              <a:t>A</a:t>
            </a:r>
            <a:r>
              <a:rPr sz="1800" dirty="0">
                <a:latin typeface="Times New Roman"/>
                <a:cs typeface="Times New Roman"/>
              </a:rPr>
              <a:t>n</a:t>
            </a:r>
            <a:r>
              <a:rPr sz="1800" spc="20" dirty="0">
                <a:latin typeface="Times New Roman"/>
                <a:cs typeface="Times New Roman"/>
              </a:rPr>
              <a:t>a</a:t>
            </a:r>
            <a:r>
              <a:rPr sz="1800" spc="-55" dirty="0">
                <a:latin typeface="Times New Roman"/>
                <a:cs typeface="Times New Roman"/>
              </a:rPr>
              <a:t>l</a:t>
            </a:r>
            <a:r>
              <a:rPr sz="1800" dirty="0">
                <a:latin typeface="Times New Roman"/>
                <a:cs typeface="Times New Roman"/>
              </a:rPr>
              <a:t>y</a:t>
            </a:r>
            <a:r>
              <a:rPr sz="1800" spc="-30" dirty="0">
                <a:latin typeface="Times New Roman"/>
                <a:cs typeface="Times New Roman"/>
              </a:rPr>
              <a:t>s</a:t>
            </a:r>
            <a:r>
              <a:rPr sz="1800" spc="-55" dirty="0">
                <a:latin typeface="Times New Roman"/>
                <a:cs typeface="Times New Roman"/>
              </a:rPr>
              <a:t>i</a:t>
            </a:r>
            <a:r>
              <a:rPr sz="1800" dirty="0">
                <a:latin typeface="Times New Roman"/>
                <a:cs typeface="Times New Roman"/>
              </a:rPr>
              <a:t>s</a:t>
            </a:r>
          </a:p>
          <a:p>
            <a:pPr marL="527685" indent="-514984">
              <a:lnSpc>
                <a:spcPct val="100000"/>
              </a:lnSpc>
              <a:spcBef>
                <a:spcPts val="315"/>
              </a:spcBef>
              <a:buAutoNum type="arabicPeriod"/>
              <a:tabLst>
                <a:tab pos="527050" algn="l"/>
                <a:tab pos="527685" algn="l"/>
              </a:tabLst>
            </a:pPr>
            <a:r>
              <a:rPr sz="1800" spc="-15" dirty="0">
                <a:latin typeface="Times New Roman"/>
                <a:cs typeface="Times New Roman"/>
              </a:rPr>
              <a:t>Conclusion</a:t>
            </a:r>
            <a:r>
              <a:rPr sz="1800" spc="65" dirty="0">
                <a:latin typeface="Times New Roman"/>
                <a:cs typeface="Times New Roman"/>
              </a:rPr>
              <a:t> </a:t>
            </a:r>
            <a:r>
              <a:rPr lang="en-IN" spc="65" dirty="0">
                <a:latin typeface="Times New Roman"/>
                <a:cs typeface="Times New Roman"/>
              </a:rPr>
              <a:t>and</a:t>
            </a:r>
            <a:r>
              <a:rPr sz="1800" spc="15" dirty="0">
                <a:latin typeface="Times New Roman"/>
                <a:cs typeface="Times New Roman"/>
              </a:rPr>
              <a:t> </a:t>
            </a:r>
            <a:r>
              <a:rPr sz="1800" spc="-5" dirty="0">
                <a:latin typeface="Times New Roman"/>
                <a:cs typeface="Times New Roman"/>
              </a:rPr>
              <a:t>Future</a:t>
            </a:r>
            <a:r>
              <a:rPr sz="1800" spc="15" dirty="0">
                <a:latin typeface="Times New Roman"/>
                <a:cs typeface="Times New Roman"/>
              </a:rPr>
              <a:t> </a:t>
            </a:r>
            <a:r>
              <a:rPr sz="1800" spc="-20" dirty="0">
                <a:latin typeface="Times New Roman"/>
                <a:cs typeface="Times New Roman"/>
              </a:rPr>
              <a:t>Scope</a:t>
            </a:r>
            <a:endParaRPr sz="1800" dirty="0">
              <a:latin typeface="Times New Roman"/>
              <a:cs typeface="Times New Roman"/>
            </a:endParaRPr>
          </a:p>
          <a:p>
            <a:pPr marL="527685" indent="-514984">
              <a:lnSpc>
                <a:spcPct val="100000"/>
              </a:lnSpc>
              <a:spcBef>
                <a:spcPts val="400"/>
              </a:spcBef>
              <a:buAutoNum type="arabicPeriod"/>
              <a:tabLst>
                <a:tab pos="527050" algn="l"/>
                <a:tab pos="527685" algn="l"/>
              </a:tabLst>
            </a:pPr>
            <a:r>
              <a:rPr sz="1800" spc="10" dirty="0">
                <a:latin typeface="Times New Roman"/>
                <a:cs typeface="Times New Roman"/>
              </a:rPr>
              <a:t>References</a:t>
            </a:r>
            <a:endParaRPr sz="1800" dirty="0">
              <a:latin typeface="Times New Roman"/>
              <a:cs typeface="Times New Roman"/>
            </a:endParaRPr>
          </a:p>
          <a:p>
            <a:pPr marL="527685" indent="-514984">
              <a:lnSpc>
                <a:spcPct val="100000"/>
              </a:lnSpc>
              <a:spcBef>
                <a:spcPts val="315"/>
              </a:spcBef>
              <a:buAutoNum type="arabicPeriod"/>
              <a:tabLst>
                <a:tab pos="527050" algn="l"/>
                <a:tab pos="527685" algn="l"/>
              </a:tabLst>
            </a:pPr>
            <a:r>
              <a:rPr sz="1800" spc="-30" dirty="0">
                <a:latin typeface="Times New Roman"/>
                <a:cs typeface="Times New Roman"/>
              </a:rPr>
              <a:t>Q</a:t>
            </a:r>
            <a:r>
              <a:rPr sz="1800" dirty="0">
                <a:latin typeface="Times New Roman"/>
                <a:cs typeface="Times New Roman"/>
              </a:rPr>
              <a:t>u</a:t>
            </a:r>
            <a:r>
              <a:rPr sz="1800" spc="20" dirty="0">
                <a:latin typeface="Times New Roman"/>
                <a:cs typeface="Times New Roman"/>
              </a:rPr>
              <a:t>e</a:t>
            </a:r>
            <a:r>
              <a:rPr sz="1800" spc="-30" dirty="0">
                <a:latin typeface="Times New Roman"/>
                <a:cs typeface="Times New Roman"/>
              </a:rPr>
              <a:t>s</a:t>
            </a:r>
            <a:r>
              <a:rPr sz="1800" spc="20" dirty="0">
                <a:latin typeface="Times New Roman"/>
                <a:cs typeface="Times New Roman"/>
              </a:rPr>
              <a:t>t</a:t>
            </a:r>
            <a:r>
              <a:rPr sz="1800" spc="-55" dirty="0">
                <a:latin typeface="Times New Roman"/>
                <a:cs typeface="Times New Roman"/>
              </a:rPr>
              <a:t>i</a:t>
            </a:r>
            <a:r>
              <a:rPr sz="1800" dirty="0">
                <a:latin typeface="Times New Roman"/>
                <a:cs typeface="Times New Roman"/>
              </a:rPr>
              <a:t>on</a:t>
            </a:r>
            <a:r>
              <a:rPr sz="1800" spc="70" dirty="0">
                <a:latin typeface="Times New Roman"/>
                <a:cs typeface="Times New Roman"/>
              </a:rPr>
              <a:t> </a:t>
            </a:r>
            <a:r>
              <a:rPr sz="1800" spc="20" dirty="0">
                <a:latin typeface="Times New Roman"/>
                <a:cs typeface="Times New Roman"/>
              </a:rPr>
              <a:t>a</a:t>
            </a:r>
            <a:r>
              <a:rPr sz="1800" dirty="0">
                <a:latin typeface="Times New Roman"/>
                <a:cs typeface="Times New Roman"/>
              </a:rPr>
              <a:t>nd</a:t>
            </a:r>
            <a:r>
              <a:rPr sz="1800" spc="-155" dirty="0">
                <a:latin typeface="Times New Roman"/>
                <a:cs typeface="Times New Roman"/>
              </a:rPr>
              <a:t> </a:t>
            </a:r>
            <a:r>
              <a:rPr sz="1800" spc="-30" dirty="0">
                <a:latin typeface="Times New Roman"/>
                <a:cs typeface="Times New Roman"/>
              </a:rPr>
              <a:t>A</a:t>
            </a:r>
            <a:r>
              <a:rPr sz="1800" dirty="0">
                <a:latin typeface="Times New Roman"/>
                <a:cs typeface="Times New Roman"/>
              </a:rPr>
              <a:t>n</a:t>
            </a:r>
            <a:r>
              <a:rPr sz="1800" spc="-30" dirty="0">
                <a:latin typeface="Times New Roman"/>
                <a:cs typeface="Times New Roman"/>
              </a:rPr>
              <a:t>sw</a:t>
            </a:r>
            <a:r>
              <a:rPr sz="1800" spc="20" dirty="0">
                <a:latin typeface="Times New Roman"/>
                <a:cs typeface="Times New Roman"/>
              </a:rPr>
              <a:t>e</a:t>
            </a:r>
            <a:r>
              <a:rPr sz="1800" dirty="0">
                <a:latin typeface="Times New Roman"/>
                <a:cs typeface="Times New Roman"/>
              </a:rPr>
              <a:t>rs</a:t>
            </a:r>
          </a:p>
          <a:p>
            <a:pPr marL="527685" indent="-514984">
              <a:lnSpc>
                <a:spcPct val="100000"/>
              </a:lnSpc>
              <a:spcBef>
                <a:spcPts val="395"/>
              </a:spcBef>
              <a:buAutoNum type="arabicPeriod"/>
              <a:tabLst>
                <a:tab pos="527050" algn="l"/>
                <a:tab pos="527685" algn="l"/>
              </a:tabLst>
            </a:pPr>
            <a:r>
              <a:rPr sz="1800" spc="-10" dirty="0">
                <a:latin typeface="Times New Roman"/>
                <a:cs typeface="Times New Roman"/>
              </a:rPr>
              <a:t>Acknowledgements</a:t>
            </a:r>
            <a:endParaRPr sz="1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4800" y="731309"/>
            <a:ext cx="3791901" cy="693780"/>
          </a:xfrm>
          <a:prstGeom prst="rect">
            <a:avLst/>
          </a:prstGeom>
        </p:spPr>
        <p:txBody>
          <a:bodyPr vert="horz" wrap="square" lIns="0" tIns="16510" rIns="0" bIns="0" rtlCol="0">
            <a:spAutoFit/>
          </a:bodyPr>
          <a:lstStyle/>
          <a:p>
            <a:pPr marL="12700" algn="ctr">
              <a:lnSpc>
                <a:spcPct val="100000"/>
              </a:lnSpc>
              <a:spcBef>
                <a:spcPts val="130"/>
              </a:spcBef>
            </a:pPr>
            <a:r>
              <a:rPr spc="45" dirty="0"/>
              <a:t>A</a:t>
            </a:r>
            <a:r>
              <a:rPr spc="60" dirty="0"/>
              <a:t>B</a:t>
            </a:r>
            <a:r>
              <a:rPr spc="20" dirty="0"/>
              <a:t>S</a:t>
            </a:r>
            <a:r>
              <a:rPr spc="-10" dirty="0"/>
              <a:t>T</a:t>
            </a:r>
            <a:r>
              <a:rPr spc="45" dirty="0"/>
              <a:t>RA</a:t>
            </a:r>
            <a:r>
              <a:rPr spc="-25" dirty="0"/>
              <a:t>C</a:t>
            </a:r>
            <a:r>
              <a:rPr spc="20" dirty="0"/>
              <a:t>T</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426330" y="6451049"/>
            <a:ext cx="8314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6" name="object 6"/>
          <p:cNvSpPr txBox="1"/>
          <p:nvPr/>
        </p:nvSpPr>
        <p:spPr>
          <a:xfrm>
            <a:off x="5492331" y="6451049"/>
            <a:ext cx="1037656"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3</a:t>
            </a:fld>
            <a:endParaRPr dirty="0"/>
          </a:p>
        </p:txBody>
      </p:sp>
      <p:sp>
        <p:nvSpPr>
          <p:cNvPr id="3" name="object 3"/>
          <p:cNvSpPr txBox="1"/>
          <p:nvPr/>
        </p:nvSpPr>
        <p:spPr>
          <a:xfrm>
            <a:off x="917575" y="1450022"/>
            <a:ext cx="10320655" cy="415242"/>
          </a:xfrm>
          <a:prstGeom prst="rect">
            <a:avLst/>
          </a:prstGeom>
        </p:spPr>
        <p:txBody>
          <a:bodyPr vert="horz" wrap="square" lIns="0" tIns="54610" rIns="0" bIns="0" rtlCol="0">
            <a:spAutoFit/>
          </a:bodyPr>
          <a:lstStyle/>
          <a:p>
            <a:pPr marL="12700" marR="5080">
              <a:lnSpc>
                <a:spcPct val="90200"/>
              </a:lnSpc>
              <a:spcBef>
                <a:spcPts val="430"/>
              </a:spcBef>
            </a:pPr>
            <a:endParaRPr sz="2600" dirty="0">
              <a:latin typeface="Calibri"/>
              <a:cs typeface="Calibri"/>
            </a:endParaRPr>
          </a:p>
        </p:txBody>
      </p:sp>
      <p:sp>
        <p:nvSpPr>
          <p:cNvPr id="10" name="TextBox 9">
            <a:extLst>
              <a:ext uri="{FF2B5EF4-FFF2-40B4-BE49-F238E27FC236}">
                <a16:creationId xmlns:a16="http://schemas.microsoft.com/office/drawing/2014/main" id="{621D70BB-5239-88AF-01A6-8B000EAE3E37}"/>
              </a:ext>
            </a:extLst>
          </p:cNvPr>
          <p:cNvSpPr txBox="1"/>
          <p:nvPr/>
        </p:nvSpPr>
        <p:spPr>
          <a:xfrm>
            <a:off x="917575" y="1715393"/>
            <a:ext cx="10393426" cy="3847207"/>
          </a:xfrm>
          <a:prstGeom prst="rect">
            <a:avLst/>
          </a:prstGeom>
          <a:noFill/>
        </p:spPr>
        <p:txBody>
          <a:bodyPr wrap="square">
            <a:spAutoFit/>
          </a:bodyPr>
          <a:lstStyle/>
          <a:p>
            <a:pPr algn="just"/>
            <a:r>
              <a:rPr lang="en-US" sz="2400" dirty="0">
                <a:latin typeface="Times New Roman" pitchFamily="18" charset="0"/>
                <a:cs typeface="Times New Roman" pitchFamily="18" charset="0"/>
              </a:rPr>
              <a:t>	</a:t>
            </a:r>
            <a:r>
              <a:rPr lang="en-US" sz="2200" dirty="0">
                <a:latin typeface="Times New Roman" panose="02020603050405020304" pitchFamily="18" charset="0"/>
                <a:cs typeface="Times New Roman" panose="02020603050405020304" pitchFamily="18" charset="0"/>
              </a:rPr>
              <a:t>In today’s rapidly evolving digital landscape, cyber threats are increasing in both volume and sophistication, making traditional intrusion detection systems inadequate. This work proposes an optimized hybrid deep learning model that integrates PCA, CNN, and </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to enhance real-time cybersecurity threat detection. PCA reduces dimensionality and computational load by eliminating redundant features, while the CNN-</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architecture effectively captures both spatial and temporal patterns in network traffic. The model is trained and evaluated on the CICIDS2017 dataset, which simulates realistic attack scenarios. Experimental results show a high detection accuracy of 98.2%, surpassing many existing methods and significantly reducing false alarms. The proposed framework is scalable, efficient, and suitable for deployment in dynamic environments such as industrial IoT, smart cities, and critical infrastructure systems.</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62400" y="685800"/>
            <a:ext cx="4526915" cy="701040"/>
          </a:xfrm>
          <a:prstGeom prst="rect">
            <a:avLst/>
          </a:prstGeom>
        </p:spPr>
        <p:txBody>
          <a:bodyPr vert="horz" wrap="square" lIns="0" tIns="16510" rIns="0" bIns="0" rtlCol="0">
            <a:spAutoFit/>
          </a:bodyPr>
          <a:lstStyle/>
          <a:p>
            <a:pPr marL="12700">
              <a:lnSpc>
                <a:spcPct val="100000"/>
              </a:lnSpc>
              <a:spcBef>
                <a:spcPts val="130"/>
              </a:spcBef>
            </a:pPr>
            <a:r>
              <a:rPr spc="15" dirty="0"/>
              <a:t>INTRODUCTION</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419600" y="6451049"/>
            <a:ext cx="91440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6" name="object 6"/>
          <p:cNvSpPr txBox="1"/>
          <p:nvPr/>
        </p:nvSpPr>
        <p:spPr>
          <a:xfrm>
            <a:off x="5615240" y="6451049"/>
            <a:ext cx="101416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xfrm>
            <a:off x="7060120" y="643247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4</a:t>
            </a:fld>
            <a:endParaRPr dirty="0"/>
          </a:p>
        </p:txBody>
      </p:sp>
      <p:sp>
        <p:nvSpPr>
          <p:cNvPr id="3" name="object 3"/>
          <p:cNvSpPr txBox="1"/>
          <p:nvPr/>
        </p:nvSpPr>
        <p:spPr>
          <a:xfrm>
            <a:off x="917576" y="1600200"/>
            <a:ext cx="10393426" cy="3326552"/>
          </a:xfrm>
          <a:prstGeom prst="rect">
            <a:avLst/>
          </a:prstGeom>
        </p:spPr>
        <p:txBody>
          <a:bodyPr vert="horz" wrap="square" lIns="0" tIns="99060" rIns="0" bIns="0" rtlCol="0">
            <a:spAutoFit/>
          </a:bodyPr>
          <a:lstStyle/>
          <a:p>
            <a:pPr marL="241300" indent="-229235" algn="just">
              <a:spcBef>
                <a:spcPts val="680"/>
              </a:spcBef>
              <a:buFont typeface="Arial MT"/>
              <a:buChar char="•"/>
              <a:tabLst>
                <a:tab pos="241935" algn="l"/>
                <a:tab pos="1907539" algn="l"/>
              </a:tabLst>
            </a:pPr>
            <a:r>
              <a:rPr lang="en-US" sz="2200" dirty="0">
                <a:latin typeface="Times New Roman" panose="02020603050405020304" pitchFamily="18" charset="0"/>
                <a:cs typeface="Times New Roman" panose="02020603050405020304" pitchFamily="18" charset="0"/>
              </a:rPr>
              <a:t>Cyberattacks are becoming more frequent and complex, targeting individuals, companies, and national systems. Traditional security methods struggle to detect modern attacks like zero-day threats and advanced malware.</a:t>
            </a:r>
          </a:p>
          <a:p>
            <a:pPr marL="241300" indent="-229235" algn="just">
              <a:spcBef>
                <a:spcPts val="680"/>
              </a:spcBef>
              <a:buFont typeface="Arial MT"/>
              <a:buChar char="•"/>
              <a:tabLst>
                <a:tab pos="241935" algn="l"/>
                <a:tab pos="1907539" algn="l"/>
              </a:tabLst>
            </a:pPr>
            <a:r>
              <a:rPr lang="en-US" sz="2200" dirty="0">
                <a:latin typeface="Times New Roman" panose="02020603050405020304" pitchFamily="18" charset="0"/>
                <a:cs typeface="Times New Roman" panose="02020603050405020304" pitchFamily="18" charset="0"/>
              </a:rPr>
              <a:t>Conventional rule-based IDS cannot handle evolving network </a:t>
            </a:r>
            <a:r>
              <a:rPr lang="en-US" sz="2200" dirty="0" err="1">
                <a:latin typeface="Times New Roman" panose="02020603050405020304" pitchFamily="18" charset="0"/>
                <a:cs typeface="Times New Roman" panose="02020603050405020304" pitchFamily="18" charset="0"/>
              </a:rPr>
              <a:t>behaviour</a:t>
            </a:r>
            <a:r>
              <a:rPr lang="en-US" sz="2200" dirty="0">
                <a:latin typeface="Times New Roman" panose="02020603050405020304" pitchFamily="18" charset="0"/>
                <a:cs typeface="Times New Roman" panose="02020603050405020304" pitchFamily="18" charset="0"/>
              </a:rPr>
              <a:t>. Deep learning models provide automatic feature extraction and can identify both known and unknown attacks with high accuracy.</a:t>
            </a:r>
          </a:p>
          <a:p>
            <a:pPr marL="241300" indent="-229235" algn="just">
              <a:spcBef>
                <a:spcPts val="680"/>
              </a:spcBef>
              <a:buFont typeface="Arial MT"/>
              <a:buChar char="•"/>
              <a:tabLst>
                <a:tab pos="241935" algn="l"/>
                <a:tab pos="1907539" algn="l"/>
              </a:tabLst>
            </a:pPr>
            <a:r>
              <a:rPr lang="en-US" sz="2200" dirty="0">
                <a:latin typeface="Times New Roman" panose="02020603050405020304" pitchFamily="18" charset="0"/>
                <a:cs typeface="Times New Roman" panose="02020603050405020304" pitchFamily="18" charset="0"/>
              </a:rPr>
              <a:t>Combining CNN and </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helps capture both spatial patterns and temporal sequences in network traffic. This makes hybrid models more effective for intrusion detection than single deep learning approaches.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7000" y="838200"/>
            <a:ext cx="6858000" cy="693780"/>
          </a:xfrm>
          <a:prstGeom prst="rect">
            <a:avLst/>
          </a:prstGeom>
        </p:spPr>
        <p:txBody>
          <a:bodyPr vert="horz" wrap="square" lIns="0" tIns="16510" rIns="0" bIns="0" rtlCol="0">
            <a:spAutoFit/>
          </a:bodyPr>
          <a:lstStyle/>
          <a:p>
            <a:pPr marL="12700" algn="ctr">
              <a:lnSpc>
                <a:spcPct val="100000"/>
              </a:lnSpc>
              <a:spcBef>
                <a:spcPts val="130"/>
              </a:spcBef>
            </a:pPr>
            <a:r>
              <a:rPr spc="20" dirty="0"/>
              <a:t>PROBLEM</a:t>
            </a:r>
            <a:r>
              <a:rPr spc="-240" dirty="0"/>
              <a:t> </a:t>
            </a:r>
            <a:r>
              <a:rPr spc="-55" dirty="0"/>
              <a:t>STATEMENT</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426330" y="6451049"/>
            <a:ext cx="9076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xfrm>
            <a:off x="6794881" y="6451049"/>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5</a:t>
            </a:fld>
            <a:endParaRPr dirty="0"/>
          </a:p>
        </p:txBody>
      </p:sp>
      <p:sp>
        <p:nvSpPr>
          <p:cNvPr id="10" name="TextBox 9">
            <a:extLst>
              <a:ext uri="{FF2B5EF4-FFF2-40B4-BE49-F238E27FC236}">
                <a16:creationId xmlns:a16="http://schemas.microsoft.com/office/drawing/2014/main" id="{8F3F7C4C-E9CF-C66E-B7DA-DBCCAAD90C3A}"/>
              </a:ext>
            </a:extLst>
          </p:cNvPr>
          <p:cNvSpPr txBox="1"/>
          <p:nvPr/>
        </p:nvSpPr>
        <p:spPr>
          <a:xfrm>
            <a:off x="917575" y="1828800"/>
            <a:ext cx="10393426" cy="307853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Existing intrusion detection systems struggle to identify complex and evolving cyberattacks due to high-dimensional data and outdated rule-based methods. This results in low accuracy and slow threat response. </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Many deep learning models are computationally heavy and unsuitable for real-time environments. There is a need for a lightweight, high-accuracy model that can reduce false alarms while detecting modern cyber threats effectively.</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70593" y="270745"/>
            <a:ext cx="5518785" cy="632460"/>
          </a:xfrm>
          <a:prstGeom prst="rect">
            <a:avLst/>
          </a:prstGeom>
        </p:spPr>
        <p:txBody>
          <a:bodyPr vert="horz" wrap="square" lIns="0" tIns="16510" rIns="0" bIns="0" rtlCol="0">
            <a:spAutoFit/>
          </a:bodyPr>
          <a:lstStyle/>
          <a:p>
            <a:pPr marL="12700">
              <a:lnSpc>
                <a:spcPct val="100000"/>
              </a:lnSpc>
              <a:spcBef>
                <a:spcPts val="130"/>
              </a:spcBef>
            </a:pPr>
            <a:r>
              <a:rPr sz="3950" spc="-30" dirty="0"/>
              <a:t>LITERATURE</a:t>
            </a:r>
            <a:r>
              <a:rPr sz="3950" spc="250" dirty="0"/>
              <a:t> </a:t>
            </a:r>
            <a:r>
              <a:rPr sz="3950" spc="-30" dirty="0"/>
              <a:t>SURVEY</a:t>
            </a:r>
            <a:endParaRPr sz="3950" dirty="0"/>
          </a:p>
        </p:txBody>
      </p:sp>
      <p:sp>
        <p:nvSpPr>
          <p:cNvPr id="4" name="object 4"/>
          <p:cNvSpPr txBox="1">
            <a:spLocks noGrp="1"/>
          </p:cNvSpPr>
          <p:nvPr>
            <p:ph type="dt" sz="half" idx="6"/>
          </p:nvPr>
        </p:nvSpPr>
        <p:spPr>
          <a:xfrm>
            <a:off x="1144321" y="6468567"/>
            <a:ext cx="1037655" cy="359073"/>
          </a:xfrm>
          <a:prstGeom prst="rect">
            <a:avLst/>
          </a:prstGeom>
        </p:spPr>
        <p:txBody>
          <a:bodyPr vert="horz" wrap="square" lIns="0" tIns="0" rIns="0" bIns="0" rtlCol="0">
            <a:spAutoFit/>
          </a:bodyPr>
          <a:lstStyle/>
          <a:p>
            <a:pPr marL="12700">
              <a:lnSpc>
                <a:spcPts val="1410"/>
              </a:lnSpc>
            </a:pPr>
            <a:r>
              <a:rPr lang="en-IN" spc="5" dirty="0"/>
              <a:t>05-12-2025</a:t>
            </a:r>
          </a:p>
          <a:p>
            <a:pPr marL="12700">
              <a:lnSpc>
                <a:spcPts val="1410"/>
              </a:lnSpc>
            </a:pPr>
            <a:endParaRPr spc="5" dirty="0"/>
          </a:p>
        </p:txBody>
      </p:sp>
      <p:sp>
        <p:nvSpPr>
          <p:cNvPr id="5" name="object 5"/>
          <p:cNvSpPr txBox="1"/>
          <p:nvPr/>
        </p:nvSpPr>
        <p:spPr>
          <a:xfrm>
            <a:off x="4426330" y="6451049"/>
            <a:ext cx="9076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6</a:t>
            </a:fld>
            <a:endParaRPr dirty="0"/>
          </a:p>
        </p:txBody>
      </p:sp>
      <p:graphicFrame>
        <p:nvGraphicFramePr>
          <p:cNvPr id="12" name="Table 3">
            <a:extLst>
              <a:ext uri="{FF2B5EF4-FFF2-40B4-BE49-F238E27FC236}">
                <a16:creationId xmlns:a16="http://schemas.microsoft.com/office/drawing/2014/main" id="{0B2DBF82-339B-B352-3719-DA8B4BA8CA70}"/>
              </a:ext>
            </a:extLst>
          </p:cNvPr>
          <p:cNvGraphicFramePr>
            <a:graphicFrameLocks noGrp="1"/>
          </p:cNvGraphicFramePr>
          <p:nvPr>
            <p:extLst>
              <p:ext uri="{D42A27DB-BD31-4B8C-83A1-F6EECF244321}">
                <p14:modId xmlns:p14="http://schemas.microsoft.com/office/powerpoint/2010/main" val="906141529"/>
              </p:ext>
            </p:extLst>
          </p:nvPr>
        </p:nvGraphicFramePr>
        <p:xfrm>
          <a:off x="381000" y="1080729"/>
          <a:ext cx="11277602" cy="5015271"/>
        </p:xfrm>
        <a:graphic>
          <a:graphicData uri="http://schemas.openxmlformats.org/drawingml/2006/table">
            <a:tbl>
              <a:tblPr firstRow="1" bandRow="1"/>
              <a:tblGrid>
                <a:gridCol w="457200">
                  <a:extLst>
                    <a:ext uri="{9D8B030D-6E8A-4147-A177-3AD203B41FA5}">
                      <a16:colId xmlns:a16="http://schemas.microsoft.com/office/drawing/2014/main" val="166576671"/>
                    </a:ext>
                  </a:extLst>
                </a:gridCol>
                <a:gridCol w="1981200">
                  <a:extLst>
                    <a:ext uri="{9D8B030D-6E8A-4147-A177-3AD203B41FA5}">
                      <a16:colId xmlns:a16="http://schemas.microsoft.com/office/drawing/2014/main" val="946789180"/>
                    </a:ext>
                  </a:extLst>
                </a:gridCol>
                <a:gridCol w="1676400">
                  <a:extLst>
                    <a:ext uri="{9D8B030D-6E8A-4147-A177-3AD203B41FA5}">
                      <a16:colId xmlns:a16="http://schemas.microsoft.com/office/drawing/2014/main" val="3483638722"/>
                    </a:ext>
                  </a:extLst>
                </a:gridCol>
                <a:gridCol w="2514600">
                  <a:extLst>
                    <a:ext uri="{9D8B030D-6E8A-4147-A177-3AD203B41FA5}">
                      <a16:colId xmlns:a16="http://schemas.microsoft.com/office/drawing/2014/main" val="1190061112"/>
                    </a:ext>
                  </a:extLst>
                </a:gridCol>
                <a:gridCol w="1828800">
                  <a:extLst>
                    <a:ext uri="{9D8B030D-6E8A-4147-A177-3AD203B41FA5}">
                      <a16:colId xmlns:a16="http://schemas.microsoft.com/office/drawing/2014/main" val="3469305604"/>
                    </a:ext>
                  </a:extLst>
                </a:gridCol>
                <a:gridCol w="1676400">
                  <a:extLst>
                    <a:ext uri="{9D8B030D-6E8A-4147-A177-3AD203B41FA5}">
                      <a16:colId xmlns:a16="http://schemas.microsoft.com/office/drawing/2014/main" val="3853106642"/>
                    </a:ext>
                  </a:extLst>
                </a:gridCol>
                <a:gridCol w="1143002">
                  <a:extLst>
                    <a:ext uri="{9D8B030D-6E8A-4147-A177-3AD203B41FA5}">
                      <a16:colId xmlns:a16="http://schemas.microsoft.com/office/drawing/2014/main" val="1601472594"/>
                    </a:ext>
                  </a:extLst>
                </a:gridCol>
              </a:tblGrid>
              <a:tr h="549731">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dirty="0">
                          <a:solidFill>
                            <a:schemeClr val="tx1"/>
                          </a:solidFill>
                          <a:latin typeface="Times New Roman" panose="02020603050405020304" pitchFamily="18" charset="0"/>
                          <a:cs typeface="Times New Roman" panose="02020603050405020304" pitchFamily="18" charset="0"/>
                        </a:rPr>
                        <a:t>No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Author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Journal Name &amp; Year</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Methodology Adapted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Key Findings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lvl1pPr marL="0">
                        <a:defRPr b="1">
                          <a:solidFill>
                            <a:schemeClr val="bg1"/>
                          </a:solidFill>
                          <a:latin typeface="Calibri" panose="020F0502020204030204"/>
                        </a:defRPr>
                      </a:lvl1pPr>
                      <a:lvl2pPr marL="457200">
                        <a:defRPr b="1">
                          <a:solidFill>
                            <a:schemeClr val="bg1"/>
                          </a:solidFill>
                          <a:latin typeface="Calibri" panose="020F0502020204030204"/>
                        </a:defRPr>
                      </a:lvl2pPr>
                      <a:lvl3pPr marL="914400">
                        <a:defRPr b="1">
                          <a:solidFill>
                            <a:schemeClr val="bg1"/>
                          </a:solidFill>
                          <a:latin typeface="Calibri" panose="020F0502020204030204"/>
                        </a:defRPr>
                      </a:lvl3pPr>
                      <a:lvl4pPr marL="1371600">
                        <a:defRPr b="1">
                          <a:solidFill>
                            <a:schemeClr val="bg1"/>
                          </a:solidFill>
                          <a:latin typeface="Calibri" panose="020F0502020204030204"/>
                        </a:defRPr>
                      </a:lvl4pPr>
                      <a:lvl5pPr marL="1828800">
                        <a:defRPr b="1">
                          <a:solidFill>
                            <a:schemeClr val="bg1"/>
                          </a:solidFill>
                          <a:latin typeface="Calibri" panose="020F0502020204030204"/>
                        </a:defRPr>
                      </a:lvl5pPr>
                      <a:lvl6pPr marL="2286000">
                        <a:defRPr b="1">
                          <a:solidFill>
                            <a:schemeClr val="bg1"/>
                          </a:solidFill>
                          <a:latin typeface="Calibri" panose="020F0502020204030204"/>
                        </a:defRPr>
                      </a:lvl6pPr>
                      <a:lvl7pPr marL="2743200">
                        <a:defRPr b="1">
                          <a:solidFill>
                            <a:schemeClr val="bg1"/>
                          </a:solidFill>
                          <a:latin typeface="Calibri" panose="020F0502020204030204"/>
                        </a:defRPr>
                      </a:lvl7pPr>
                      <a:lvl8pPr marL="3200400">
                        <a:defRPr b="1">
                          <a:solidFill>
                            <a:schemeClr val="bg1"/>
                          </a:solidFill>
                          <a:latin typeface="Calibri" panose="020F0502020204030204"/>
                        </a:defRPr>
                      </a:lvl8pPr>
                      <a:lvl9pPr marL="3657600">
                        <a:defRPr b="1">
                          <a:solidFill>
                            <a:schemeClr val="bg1"/>
                          </a:solidFill>
                          <a:latin typeface="Calibri" panose="020F0502020204030204"/>
                        </a:defRPr>
                      </a:lvl9pPr>
                    </a:lstStyle>
                    <a:p>
                      <a:pPr algn="ctr"/>
                      <a:r>
                        <a:rPr lang="en-US" sz="1600">
                          <a:solidFill>
                            <a:schemeClr val="tx1"/>
                          </a:solidFill>
                          <a:latin typeface="Times New Roman" panose="02020603050405020304" pitchFamily="18" charset="0"/>
                          <a:cs typeface="Times New Roman" panose="02020603050405020304" pitchFamily="18" charset="0"/>
                        </a:rPr>
                        <a:t>Gaps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537051210"/>
                  </a:ext>
                </a:extLst>
              </a:tr>
              <a:tr h="702351">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1</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Novel Hybrid Deep Learning-Based Cybersecurity Threat Detection Model with Optimization Algorithm</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 </a:t>
                      </a:r>
                      <a:r>
                        <a:rPr lang="fi-FI" sz="1100" dirty="0">
                          <a:latin typeface="Times New Roman" panose="02020603050405020304" pitchFamily="18" charset="0"/>
                          <a:cs typeface="Times New Roman" panose="02020603050405020304" pitchFamily="18" charset="0"/>
                        </a:rPr>
                        <a:t>S. Markkandeyan et al., 2025, Cyber Security and Applications (Elsevier)</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0" i="0" u="sng" kern="1200" dirty="0">
                          <a:solidFill>
                            <a:schemeClr val="tx1"/>
                          </a:solidFill>
                          <a:effectLst/>
                          <a:latin typeface="Times New Roman" panose="02020603050405020304" pitchFamily="18" charset="0"/>
                          <a:ea typeface="+mn-ea"/>
                          <a:cs typeface="Times New Roman" panose="02020603050405020304" pitchFamily="18" charset="0"/>
                          <a:hlinkClick r:id="rId3"/>
                        </a:rPr>
                        <a:t>https://www.sciencedirect.com/science/article/pii/S2772918424000419?via%3Dihub</a:t>
                      </a:r>
                      <a:r>
                        <a:rPr lang="en-US" sz="1100" b="0" i="0" u="sng" kern="1200" dirty="0">
                          <a:solidFill>
                            <a:schemeClr val="tx1"/>
                          </a:solidFill>
                          <a:effectLst/>
                          <a:latin typeface="Times New Roman" panose="02020603050405020304" pitchFamily="18" charset="0"/>
                          <a:ea typeface="+mn-ea"/>
                          <a:cs typeface="Times New Roman" panose="02020603050405020304" pitchFamily="18" charset="0"/>
                        </a:rPr>
                        <a:t> - &amp; </a:t>
                      </a:r>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b="0" i="0" kern="1200" dirty="0">
                          <a:solidFill>
                            <a:schemeClr val="tx1"/>
                          </a:solidFill>
                          <a:effectLst/>
                          <a:latin typeface="Times New Roman" panose="02020603050405020304" pitchFamily="18" charset="0"/>
                          <a:ea typeface="+mn-ea"/>
                          <a:cs typeface="Times New Roman" panose="02020603050405020304" pitchFamily="18" charset="0"/>
                        </a:rPr>
                        <a:t>ATFDNN + IPSO, E-LSTM</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Achieved high accuracy (95%), false alarm rate reduced.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 no real-time detection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925414"/>
                  </a:ext>
                </a:extLst>
              </a:tr>
              <a:tr h="959698">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2</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Advances in IoT Intrusion Detection: Deploying Hybrid Deep Learning and Metaheuristic Algorithms for Optimal Feature Selection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Ahmed Basil Abdulkareem, 2025, IIETA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4"/>
                        </a:rPr>
                        <a:t>https://www.researchgate.net/publication/391974411_Advances_in_IoT_Intrusion_Detection_Deploying_Hybrid_Deep_Learning_and_Metaheuristic_Algorithms_for_Optimal_Feature_Selection</a:t>
                      </a:r>
                      <a:r>
                        <a:rPr lang="en-US" sz="1100" dirty="0">
                          <a:latin typeface="Times New Roman" panose="02020603050405020304" pitchFamily="18" charset="0"/>
                          <a:cs typeface="Times New Roman" panose="02020603050405020304" pitchFamily="18" charset="0"/>
                        </a:rPr>
                        <a:t> &amp; 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CNN, </a:t>
                      </a:r>
                      <a:r>
                        <a:rPr lang="en-US" sz="1100" dirty="0" err="1">
                          <a:latin typeface="Times New Roman" panose="02020603050405020304" pitchFamily="18" charset="0"/>
                          <a:cs typeface="Times New Roman" panose="02020603050405020304" pitchFamily="18" charset="0"/>
                        </a:rPr>
                        <a:t>BiGRU</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BiLSTM,GA,HHO,DA</a:t>
                      </a:r>
                      <a:r>
                        <a:rPr lang="en-US" sz="1100" dirty="0">
                          <a:latin typeface="Times New Roman" panose="02020603050405020304" pitchFamily="18" charset="0"/>
                          <a:cs typeface="Times New Roman" panose="02020603050405020304" pitchFamily="18" charset="0"/>
                        </a:rPr>
                        <a:t>, GWO, PSO</a:t>
                      </a:r>
                    </a:p>
                    <a:p>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PSO achieved highest accuracy (98.11%) ,</a:t>
                      </a:r>
                      <a:r>
                        <a:rPr lang="en-US" sz="1100" dirty="0" err="1">
                          <a:latin typeface="Times New Roman" panose="02020603050405020304" pitchFamily="18" charset="0"/>
                          <a:cs typeface="Times New Roman" panose="02020603050405020304" pitchFamily="18" charset="0"/>
                        </a:rPr>
                        <a:t>ToN</a:t>
                      </a:r>
                      <a:r>
                        <a:rPr lang="en-US" sz="1100" dirty="0">
                          <a:latin typeface="Times New Roman" panose="02020603050405020304" pitchFamily="18" charset="0"/>
                          <a:cs typeface="Times New Roman" panose="02020603050405020304" pitchFamily="18" charset="0"/>
                        </a:rPr>
                        <a:t>-IoT dataset used ,High precision, recall, F1-score across classes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High computational cost limits real-time deployment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8357853"/>
                  </a:ext>
                </a:extLst>
              </a:tr>
              <a:tr h="68356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Intrusion Detection and Prevention System (IDPS) Model for </a:t>
                      </a:r>
                      <a:r>
                        <a:rPr lang="en-US" sz="1100" dirty="0" err="1">
                          <a:latin typeface="Times New Roman" panose="02020603050405020304" pitchFamily="18" charset="0"/>
                          <a:cs typeface="Times New Roman" panose="02020603050405020304" pitchFamily="18" charset="0"/>
                        </a:rPr>
                        <a:t>IIoT</a:t>
                      </a:r>
                      <a:r>
                        <a:rPr lang="en-US" sz="1100" dirty="0">
                          <a:latin typeface="Times New Roman" panose="02020603050405020304" pitchFamily="18" charset="0"/>
                          <a:cs typeface="Times New Roman" panose="02020603050405020304" pitchFamily="18" charset="0"/>
                        </a:rPr>
                        <a:t> Environments Using Hybridized Framework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it-IT" sz="1100" dirty="0">
                          <a:latin typeface="Times New Roman" panose="02020603050405020304" pitchFamily="18" charset="0"/>
                          <a:cs typeface="Times New Roman" panose="02020603050405020304" pitchFamily="18" charset="0"/>
                        </a:rPr>
                        <a:t>Manohar Srinivasan, N. C. Senthilkumar, 2025, IEEE Access</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5"/>
                        </a:rPr>
                        <a:t>https://ieeexplore.ieee.org/document/10870250</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CNN, Blockchain-assisted Reinforcement Learning, Edge computing</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Achieved high accuracy, low false positives , Real-time detection &amp; mitigation </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Scalability issues in hybrid IDPS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36231"/>
                  </a:ext>
                </a:extLst>
              </a:tr>
              <a:tr h="984337">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a:latin typeface="Times New Roman" panose="02020603050405020304" pitchFamily="18" charset="0"/>
                          <a:cs typeface="Times New Roman" panose="02020603050405020304" pitchFamily="18" charset="0"/>
                        </a:rPr>
                        <a:t>4</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latin typeface="Times New Roman" panose="02020603050405020304" pitchFamily="18" charset="0"/>
                          <a:cs typeface="Times New Roman" panose="02020603050405020304" pitchFamily="18" charset="0"/>
                        </a:rPr>
                        <a:t>Reinforcement Learning With Deep Features: A Dynamic Approach for Intrusion Detection in IoT Networks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fi-FI" sz="1100" dirty="0">
                          <a:latin typeface="Times New Roman" panose="02020603050405020304" pitchFamily="18" charset="0"/>
                          <a:cs typeface="Times New Roman" panose="02020603050405020304" pitchFamily="18" charset="0"/>
                        </a:rPr>
                        <a:t>Mohamad Khayat, Ezedin Barka, Mohamed Adel Serhani, Farag Sallabi, Khaled Shuaib, Heba M. Khater (IEEE, 2025)</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6"/>
                        </a:rPr>
                        <a:t>https://ieeexplore.ieee.org/document/11002467</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Deep Q-Network (DQN), RNN, Autoencoder, LSTM, CNN, CL-AOO (Hybrid: GAO + CL-OOA), PCA</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Achieved 99.80% accuracy, 99.99% precision, improved FPR &amp; FNR; integrated hybrid feature selection and RL for adaptive IDS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Sensitivity to hyperparameters, complexity in real-time environments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5402542"/>
                  </a:ext>
                </a:extLst>
              </a:tr>
              <a:tr h="855173">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400" dirty="0">
                          <a:latin typeface="Times New Roman" panose="02020603050405020304" pitchFamily="18" charset="0"/>
                          <a:cs typeface="Times New Roman" panose="02020603050405020304" pitchFamily="18" charset="0"/>
                        </a:rPr>
                        <a:t>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A Secure and Efficient Deep Learning-Based Intrusion Detection Framework for the Internet of Vehicles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Hasim Khan, Ghanshyam G. Tejani, et al., 2025, Nature Scientific Reports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hlinkClick r:id="rId7"/>
                        </a:rPr>
                        <a:t>https://www.nature.com/articles/s41598-025-94445-9</a:t>
                      </a:r>
                      <a:r>
                        <a:rPr lang="en-US" sz="1100" dirty="0">
                          <a:latin typeface="Times New Roman" panose="02020603050405020304" pitchFamily="18" charset="0"/>
                          <a:cs typeface="Times New Roman" panose="02020603050405020304" pitchFamily="18" charset="0"/>
                        </a:rPr>
                        <a:t> &amp;</a:t>
                      </a:r>
                    </a:p>
                    <a:p>
                      <a:r>
                        <a:rPr lang="en-US" sz="1100" dirty="0">
                          <a:latin typeface="Times New Roman" panose="02020603050405020304" pitchFamily="18" charset="0"/>
                          <a:cs typeface="Times New Roman" panose="02020603050405020304" pitchFamily="18" charset="0"/>
                        </a:rPr>
                        <a:t>2025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DAGSNet</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DenseNet</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GoogleNet</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AlexNet</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 </a:t>
                      </a:r>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SqueezeNet</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CMSO, </a:t>
                      </a:r>
                      <a:r>
                        <a:rPr lang="en-US" sz="1100" b="0" i="0" kern="1200" dirty="0" err="1">
                          <a:solidFill>
                            <a:schemeClr val="tx1"/>
                          </a:solidFill>
                          <a:effectLst/>
                          <a:latin typeface="Times New Roman" panose="02020603050405020304" pitchFamily="18" charset="0"/>
                          <a:ea typeface="+mn-ea"/>
                          <a:cs typeface="Times New Roman" panose="02020603050405020304" pitchFamily="18" charset="0"/>
                        </a:rPr>
                        <a:t>ViT</a:t>
                      </a:r>
                      <a:r>
                        <a:rPr lang="en-US" sz="1100" b="0" i="0" kern="1200" dirty="0">
                          <a:solidFill>
                            <a:schemeClr val="tx1"/>
                          </a:solidFill>
                          <a:effectLst/>
                          <a:latin typeface="Times New Roman" panose="02020603050405020304" pitchFamily="18" charset="0"/>
                          <a:ea typeface="+mn-ea"/>
                          <a:cs typeface="Times New Roman" panose="02020603050405020304" pitchFamily="18" charset="0"/>
                        </a:rPr>
                        <a:t>, GAT, Wavelet Transform</a:t>
                      </a:r>
                      <a:endParaRPr lang="en-US" sz="1100" dirty="0">
                        <a:latin typeface="Times New Roman" panose="02020603050405020304" pitchFamily="18" charset="0"/>
                        <a:cs typeface="Times New Roman" panose="02020603050405020304" pitchFamily="18" charset="0"/>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High accuracy (99.12%), Robust feature selection via </a:t>
                      </a:r>
                      <a:r>
                        <a:rPr lang="en-US" sz="1100" dirty="0" err="1">
                          <a:latin typeface="Times New Roman" panose="02020603050405020304" pitchFamily="18" charset="0"/>
                          <a:cs typeface="Times New Roman" panose="02020603050405020304" pitchFamily="18" charset="0"/>
                        </a:rPr>
                        <a:t>CMSO,Real</a:t>
                      </a:r>
                      <a:r>
                        <a:rPr lang="en-US" sz="1100" dirty="0">
                          <a:latin typeface="Times New Roman" panose="02020603050405020304" pitchFamily="18" charset="0"/>
                          <a:cs typeface="Times New Roman" panose="02020603050405020304" pitchFamily="18" charset="0"/>
                        </a:rPr>
                        <a:t>-time detection</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r>
                        <a:rPr lang="en-US" sz="1100" dirty="0">
                          <a:latin typeface="Times New Roman" panose="02020603050405020304" pitchFamily="18" charset="0"/>
                          <a:cs typeface="Times New Roman" panose="02020603050405020304" pitchFamily="18" charset="0"/>
                        </a:rPr>
                        <a:t>poor scalability, weak handling of emerging attack patterns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761999"/>
            <a:ext cx="9753600" cy="693779"/>
          </a:xfrm>
          <a:prstGeom prst="rect">
            <a:avLst/>
          </a:prstGeom>
        </p:spPr>
        <p:txBody>
          <a:bodyPr vert="horz" wrap="square" lIns="0" tIns="16510" rIns="0" bIns="0" rtlCol="0">
            <a:spAutoFit/>
          </a:bodyPr>
          <a:lstStyle/>
          <a:p>
            <a:pPr marL="12700" algn="ctr">
              <a:lnSpc>
                <a:spcPct val="100000"/>
              </a:lnSpc>
              <a:spcBef>
                <a:spcPts val="130"/>
              </a:spcBef>
            </a:pPr>
            <a:r>
              <a:rPr spc="-15" dirty="0"/>
              <a:t>L</a:t>
            </a:r>
            <a:r>
              <a:rPr spc="10" dirty="0"/>
              <a:t>I</a:t>
            </a:r>
            <a:r>
              <a:rPr spc="-15" dirty="0"/>
              <a:t>TE</a:t>
            </a:r>
            <a:r>
              <a:rPr spc="45" dirty="0"/>
              <a:t>R</a:t>
            </a:r>
            <a:r>
              <a:rPr spc="-254" dirty="0"/>
              <a:t>A</a:t>
            </a:r>
            <a:r>
              <a:rPr spc="-15" dirty="0"/>
              <a:t>T</a:t>
            </a:r>
            <a:r>
              <a:rPr spc="45" dirty="0"/>
              <a:t>UR</a:t>
            </a:r>
            <a:r>
              <a:rPr spc="20" dirty="0"/>
              <a:t>E</a:t>
            </a:r>
            <a:r>
              <a:rPr spc="-235" dirty="0"/>
              <a:t> </a:t>
            </a:r>
            <a:r>
              <a:rPr spc="15" dirty="0"/>
              <a:t>S</a:t>
            </a:r>
            <a:r>
              <a:rPr spc="55" dirty="0"/>
              <a:t>U</a:t>
            </a:r>
            <a:r>
              <a:rPr spc="-100" dirty="0"/>
              <a:t>R</a:t>
            </a:r>
            <a:r>
              <a:rPr spc="45" dirty="0"/>
              <a:t>V</a:t>
            </a:r>
            <a:r>
              <a:rPr spc="-15" dirty="0"/>
              <a:t>E</a:t>
            </a:r>
            <a:r>
              <a:rPr spc="20" dirty="0"/>
              <a:t>Y</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6" name="object 6"/>
          <p:cNvSpPr txBox="1"/>
          <p:nvPr/>
        </p:nvSpPr>
        <p:spPr>
          <a:xfrm>
            <a:off x="5184520" y="6451049"/>
            <a:ext cx="961862"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7</a:t>
            </a:fld>
            <a:endParaRPr dirty="0"/>
          </a:p>
        </p:txBody>
      </p:sp>
      <p:sp>
        <p:nvSpPr>
          <p:cNvPr id="3" name="object 3"/>
          <p:cNvSpPr txBox="1"/>
          <p:nvPr/>
        </p:nvSpPr>
        <p:spPr>
          <a:xfrm>
            <a:off x="917575" y="1676400"/>
            <a:ext cx="10393426" cy="2910412"/>
          </a:xfrm>
          <a:prstGeom prst="rect">
            <a:avLst/>
          </a:prstGeom>
        </p:spPr>
        <p:txBody>
          <a:bodyPr vert="horz" wrap="square" lIns="0" tIns="98425" rIns="0" bIns="0" rtlCol="0">
            <a:spAutoFit/>
          </a:bodyPr>
          <a:lstStyle/>
          <a:p>
            <a:pPr marL="241300" indent="-229235" algn="just">
              <a:lnSpc>
                <a:spcPct val="100000"/>
              </a:lnSpc>
              <a:spcBef>
                <a:spcPts val="775"/>
              </a:spcBef>
              <a:buFont typeface="Arial MT"/>
              <a:buChar char="•"/>
              <a:tabLst>
                <a:tab pos="241935" algn="l"/>
              </a:tabLst>
            </a:pPr>
            <a:r>
              <a:rPr lang="en-US" sz="2200" dirty="0">
                <a:latin typeface="Times New Roman" panose="02020603050405020304" pitchFamily="18" charset="0"/>
                <a:cs typeface="Times New Roman" panose="02020603050405020304" pitchFamily="18" charset="0"/>
              </a:rPr>
              <a:t>Research shifted from traditional rule-based IDS to deep learning models like CNN, LSTM, and hybrid CNN-RNN systems. These models improved detection accuracy but often required heavy computation and suffered from overfitting, limiting their real-time use.</a:t>
            </a:r>
          </a:p>
          <a:p>
            <a:pPr marL="241300" indent="-229235" algn="just">
              <a:lnSpc>
                <a:spcPct val="100000"/>
              </a:lnSpc>
              <a:spcBef>
                <a:spcPts val="775"/>
              </a:spcBef>
              <a:buFont typeface="Arial MT"/>
              <a:buChar char="•"/>
              <a:tabLst>
                <a:tab pos="241935" algn="l"/>
              </a:tabLst>
            </a:pPr>
            <a:r>
              <a:rPr lang="en-US" sz="2200" dirty="0">
                <a:latin typeface="Times New Roman" panose="02020603050405020304" pitchFamily="18" charset="0"/>
                <a:cs typeface="Times New Roman" panose="02020603050405020304" pitchFamily="18" charset="0"/>
              </a:rPr>
              <a:t>Modern datasets such as CICIDS2017 and UNSW-NB15 enabled better training for IDS compared to older datasets. Although reinforcement learning, ensemble methods, and attention-based models enhanced performance, many remained too complex for scalable and efficient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0" y="762000"/>
            <a:ext cx="6096000" cy="693780"/>
          </a:xfrm>
          <a:prstGeom prst="rect">
            <a:avLst/>
          </a:prstGeom>
        </p:spPr>
        <p:txBody>
          <a:bodyPr vert="horz" wrap="square" lIns="0" tIns="16510" rIns="0" bIns="0" rtlCol="0">
            <a:spAutoFit/>
          </a:bodyPr>
          <a:lstStyle/>
          <a:p>
            <a:pPr marL="12700" algn="ctr">
              <a:lnSpc>
                <a:spcPct val="100000"/>
              </a:lnSpc>
              <a:spcBef>
                <a:spcPts val="130"/>
              </a:spcBef>
            </a:pPr>
            <a:r>
              <a:rPr spc="45" dirty="0"/>
              <a:t>R</a:t>
            </a:r>
            <a:r>
              <a:rPr spc="-10" dirty="0"/>
              <a:t>E</a:t>
            </a:r>
            <a:r>
              <a:rPr spc="20" dirty="0"/>
              <a:t>S</a:t>
            </a:r>
            <a:r>
              <a:rPr spc="-10" dirty="0"/>
              <a:t>E</a:t>
            </a:r>
            <a:r>
              <a:rPr spc="45" dirty="0"/>
              <a:t>ARC</a:t>
            </a:r>
            <a:r>
              <a:rPr spc="20" dirty="0"/>
              <a:t>H</a:t>
            </a:r>
            <a:r>
              <a:rPr spc="-195" dirty="0"/>
              <a:t> </a:t>
            </a:r>
            <a:r>
              <a:rPr spc="-55" dirty="0"/>
              <a:t>G</a:t>
            </a:r>
            <a:r>
              <a:rPr spc="45" dirty="0"/>
              <a:t>A</a:t>
            </a:r>
            <a:r>
              <a:rPr spc="15" dirty="0"/>
              <a:t>PS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3881754" y="6451049"/>
            <a:ext cx="1302766"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2" y="6451049"/>
            <a:ext cx="984668"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8</a:t>
            </a:fld>
            <a:endParaRPr dirty="0"/>
          </a:p>
        </p:txBody>
      </p:sp>
      <p:sp>
        <p:nvSpPr>
          <p:cNvPr id="3" name="object 3"/>
          <p:cNvSpPr txBox="1"/>
          <p:nvPr/>
        </p:nvSpPr>
        <p:spPr>
          <a:xfrm>
            <a:off x="917575" y="1828800"/>
            <a:ext cx="10393426" cy="3239348"/>
          </a:xfrm>
          <a:prstGeom prst="rect">
            <a:avLst/>
          </a:prstGeom>
        </p:spPr>
        <p:txBody>
          <a:bodyPr vert="horz" wrap="square" lIns="0" tIns="99060" rIns="0" bIns="0" rtlCol="0">
            <a:spAutoFit/>
          </a:bodyPr>
          <a:lstStyle/>
          <a:p>
            <a:pPr marL="457200" indent="-457200" algn="just">
              <a:buClr>
                <a:schemeClr val="tx1"/>
              </a:buCl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Many hybrid deep learning models achieve good accuracy but rely on complex architectures or metaheuristic optimization, making them slow and unsuitable for real-time threat detection. There is a need for a faster and more efficient IDS without compromising accuracy.</a:t>
            </a:r>
          </a:p>
          <a:p>
            <a:pPr marL="457200" indent="-457200" algn="just">
              <a:buClr>
                <a:schemeClr val="tx1"/>
              </a:buCl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Most existing IDS struggle with large feature sets, leading to overfitting and longer training times. Effective feature reduction methods like PCA are not widely integrated, creating a gap for models that can handle high-dimensional traffic efficiently while maintaining strong detection performance.</a:t>
            </a:r>
            <a:endParaRPr lang="en-US" sz="2200" b="0" i="0" u="none" strike="noStrike" baseline="0" dirty="0">
              <a:latin typeface="Times New Roman" panose="02020603050405020304" pitchFamily="18" charset="0"/>
              <a:cs typeface="Times New Roman" panose="02020603050405020304" pitchFamily="18" charset="0"/>
            </a:endParaRPr>
          </a:p>
          <a:p>
            <a:pPr algn="just">
              <a:buClr>
                <a:schemeClr val="tx1"/>
              </a:buClr>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0" y="838200"/>
            <a:ext cx="5334000" cy="693780"/>
          </a:xfrm>
          <a:prstGeom prst="rect">
            <a:avLst/>
          </a:prstGeom>
        </p:spPr>
        <p:txBody>
          <a:bodyPr vert="horz" wrap="square" lIns="0" tIns="16510" rIns="0" bIns="0" rtlCol="0">
            <a:spAutoFit/>
          </a:bodyPr>
          <a:lstStyle/>
          <a:p>
            <a:pPr marL="12700" algn="ctr">
              <a:lnSpc>
                <a:spcPct val="100000"/>
              </a:lnSpc>
              <a:spcBef>
                <a:spcPts val="130"/>
              </a:spcBef>
            </a:pPr>
            <a:r>
              <a:rPr spc="20" dirty="0"/>
              <a:t>O</a:t>
            </a:r>
            <a:r>
              <a:rPr spc="65" dirty="0"/>
              <a:t>B</a:t>
            </a:r>
            <a:r>
              <a:rPr spc="45" dirty="0"/>
              <a:t>J</a:t>
            </a:r>
            <a:r>
              <a:rPr spc="-15" dirty="0"/>
              <a:t>E</a:t>
            </a:r>
            <a:r>
              <a:rPr spc="45" dirty="0"/>
              <a:t>C</a:t>
            </a:r>
            <a:r>
              <a:rPr spc="-15" dirty="0"/>
              <a:t>T</a:t>
            </a:r>
            <a:r>
              <a:rPr spc="10" dirty="0"/>
              <a:t>I</a:t>
            </a:r>
            <a:r>
              <a:rPr spc="45" dirty="0"/>
              <a:t>V</a:t>
            </a:r>
            <a:r>
              <a:rPr spc="-15" dirty="0"/>
              <a:t>E</a:t>
            </a:r>
            <a:r>
              <a:rPr spc="15" dirty="0"/>
              <a:t>S</a:t>
            </a:r>
          </a:p>
        </p:txBody>
      </p:sp>
      <p:sp>
        <p:nvSpPr>
          <p:cNvPr id="4" name="object 4"/>
          <p:cNvSpPr txBox="1">
            <a:spLocks noGrp="1"/>
          </p:cNvSpPr>
          <p:nvPr>
            <p:ph type="dt" sz="half" idx="6"/>
          </p:nvPr>
        </p:nvSpPr>
        <p:spPr>
          <a:xfrm>
            <a:off x="917575" y="6451049"/>
            <a:ext cx="749935" cy="359073"/>
          </a:xfrm>
          <a:prstGeom prst="rect">
            <a:avLst/>
          </a:prstGeom>
        </p:spPr>
        <p:txBody>
          <a:bodyPr vert="horz" wrap="square" lIns="0" tIns="0" rIns="0" bIns="0" rtlCol="0">
            <a:spAutoFit/>
          </a:bodyPr>
          <a:lstStyle/>
          <a:p>
            <a:pPr marL="12700">
              <a:lnSpc>
                <a:spcPts val="1410"/>
              </a:lnSpc>
            </a:pPr>
            <a:r>
              <a:rPr lang="en-IN" spc="5" dirty="0"/>
              <a:t>05-12-2025</a:t>
            </a:r>
          </a:p>
          <a:p>
            <a:pPr marL="12700">
              <a:lnSpc>
                <a:spcPts val="1410"/>
              </a:lnSpc>
            </a:pPr>
            <a:endParaRPr spc="5" dirty="0"/>
          </a:p>
        </p:txBody>
      </p:sp>
      <p:sp>
        <p:nvSpPr>
          <p:cNvPr id="5" name="object 5"/>
          <p:cNvSpPr txBox="1"/>
          <p:nvPr/>
        </p:nvSpPr>
        <p:spPr>
          <a:xfrm>
            <a:off x="4426330" y="6451049"/>
            <a:ext cx="9838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2" y="6451049"/>
            <a:ext cx="98387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9</a:t>
            </a:fld>
            <a:endParaRPr dirty="0"/>
          </a:p>
        </p:txBody>
      </p:sp>
      <p:sp>
        <p:nvSpPr>
          <p:cNvPr id="3" name="object 3"/>
          <p:cNvSpPr txBox="1"/>
          <p:nvPr/>
        </p:nvSpPr>
        <p:spPr>
          <a:xfrm>
            <a:off x="917575" y="1855936"/>
            <a:ext cx="10393426" cy="3516347"/>
          </a:xfrm>
          <a:prstGeom prst="rect">
            <a:avLst/>
          </a:prstGeom>
        </p:spPr>
        <p:txBody>
          <a:bodyPr vert="horz" wrap="square" lIns="0" tIns="99060" rIns="0" bIns="0" rtlCol="0">
            <a:spAutoFit/>
          </a:bodyPr>
          <a:lstStyle/>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Develop a web interface to upload and process network CSV data.</a:t>
            </a:r>
            <a:endParaRPr lang="en-US" sz="2200" dirty="0">
              <a:solidFill>
                <a:srgbClr val="0D0D0D"/>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Build a hybrid CNN–</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model for accurate intrusion detection.</a:t>
            </a:r>
            <a:endParaRPr lang="en-US" sz="2200" dirty="0">
              <a:solidFill>
                <a:srgbClr val="0D0D0D"/>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 PCA to reduce features and improve model efficiency.</a:t>
            </a:r>
            <a:endParaRPr lang="en-US" sz="2200" b="0" i="0" dirty="0">
              <a:solidFill>
                <a:srgbClr val="0D0D0D"/>
              </a:solidFill>
              <a:effectLst/>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Train the model using the CICIDS2017 dataset for better threat recognition.</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Achieve high accuracy with a low false alarm rate.</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Validate and compare the model with existing IDS approaches.</a:t>
            </a:r>
            <a:endParaRPr lang="en-US" sz="2200" dirty="0">
              <a:solidFill>
                <a:srgbClr val="0D0D0D"/>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a:solidFill>
                <a:srgbClr val="0D0D0D"/>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9900" y="685800"/>
            <a:ext cx="6172200" cy="693780"/>
          </a:xfrm>
          <a:prstGeom prst="rect">
            <a:avLst/>
          </a:prstGeom>
        </p:spPr>
        <p:txBody>
          <a:bodyPr vert="horz" wrap="square" lIns="0" tIns="16510" rIns="0" bIns="0" rtlCol="0">
            <a:spAutoFit/>
          </a:bodyPr>
          <a:lstStyle/>
          <a:p>
            <a:pPr marL="12700" algn="ctr">
              <a:lnSpc>
                <a:spcPct val="100000"/>
              </a:lnSpc>
              <a:spcBef>
                <a:spcPts val="130"/>
              </a:spcBef>
            </a:pPr>
            <a:r>
              <a:rPr spc="10" dirty="0"/>
              <a:t>METHODOLOGY</a:t>
            </a:r>
          </a:p>
        </p:txBody>
      </p:sp>
      <p:sp>
        <p:nvSpPr>
          <p:cNvPr id="4" name="object 4"/>
          <p:cNvSpPr txBox="1">
            <a:spLocks noGrp="1"/>
          </p:cNvSpPr>
          <p:nvPr>
            <p:ph type="dt" sz="half" idx="6"/>
          </p:nvPr>
        </p:nvSpPr>
        <p:spPr>
          <a:xfrm>
            <a:off x="917575" y="6451049"/>
            <a:ext cx="749935" cy="359073"/>
          </a:xfrm>
          <a:prstGeom prst="rect">
            <a:avLst/>
          </a:prstGeom>
        </p:spPr>
        <p:txBody>
          <a:bodyPr vert="horz" wrap="square" lIns="0" tIns="0" rIns="0" bIns="0" rtlCol="0">
            <a:spAutoFit/>
          </a:bodyPr>
          <a:lstStyle/>
          <a:p>
            <a:pPr marL="12700">
              <a:lnSpc>
                <a:spcPts val="1410"/>
              </a:lnSpc>
            </a:pPr>
            <a:r>
              <a:rPr lang="en-IN" spc="5" dirty="0"/>
              <a:t>05-12-2025</a:t>
            </a:r>
          </a:p>
          <a:p>
            <a:pPr marL="12700">
              <a:lnSpc>
                <a:spcPts val="1410"/>
              </a:lnSpc>
            </a:pPr>
            <a:endParaRPr spc="5" dirty="0"/>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1" y="6451049"/>
            <a:ext cx="1069719"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10</a:t>
            </a:fld>
            <a:endParaRPr dirty="0"/>
          </a:p>
        </p:txBody>
      </p:sp>
      <p:sp>
        <p:nvSpPr>
          <p:cNvPr id="3" name="object 3"/>
          <p:cNvSpPr txBox="1"/>
          <p:nvPr/>
        </p:nvSpPr>
        <p:spPr>
          <a:xfrm>
            <a:off x="917576" y="1752601"/>
            <a:ext cx="10393426" cy="2916952"/>
          </a:xfrm>
          <a:prstGeom prst="rect">
            <a:avLst/>
          </a:prstGeom>
        </p:spPr>
        <p:txBody>
          <a:bodyPr vert="horz" wrap="square" lIns="0" tIns="60960" rIns="0" bIns="0" rtlCol="0">
            <a:spAutoFit/>
          </a:bodyPr>
          <a:lstStyle/>
          <a:p>
            <a:pPr marL="241300" marR="290830" indent="-229235" algn="just">
              <a:lnSpc>
                <a:spcPts val="3000"/>
              </a:lnSpc>
              <a:spcBef>
                <a:spcPts val="480"/>
              </a:spcBef>
              <a:buFont typeface="Arial MT"/>
              <a:buChar char="•"/>
              <a:tabLst>
                <a:tab pos="241935" algn="l"/>
                <a:tab pos="2394585" algn="l"/>
              </a:tabLst>
            </a:pPr>
            <a:r>
              <a:rPr lang="en-US" sz="2200" dirty="0">
                <a:latin typeface="Times New Roman" panose="02020603050405020304" pitchFamily="18" charset="0"/>
                <a:cs typeface="Times New Roman" panose="02020603050405020304" pitchFamily="18" charset="0"/>
              </a:rPr>
              <a:t>Preprocess the CSV network data by removing missing values, encoding labels, and normalizing features.</a:t>
            </a:r>
            <a:endParaRPr lang="en-IN" sz="2200" i="0" dirty="0">
              <a:solidFill>
                <a:srgbClr val="0D0D0D"/>
              </a:solidFill>
              <a:effectLst/>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sz="2200" dirty="0">
                <a:latin typeface="Times New Roman" panose="02020603050405020304" pitchFamily="18" charset="0"/>
                <a:cs typeface="Times New Roman" panose="02020603050405020304" pitchFamily="18" charset="0"/>
              </a:rPr>
              <a:t>Apply PCA to reduce high-dimensional features and improve model training efficiency.</a:t>
            </a:r>
            <a:endParaRPr lang="en-IN" sz="2200" dirty="0">
              <a:solidFill>
                <a:srgbClr val="0D0D0D"/>
              </a:solidFill>
              <a:latin typeface="Times New Roman" panose="02020603050405020304" pitchFamily="18" charset="0"/>
              <a:cs typeface="Times New Roman" panose="02020603050405020304" pitchFamily="18" charset="0"/>
            </a:endParaRPr>
          </a:p>
          <a:p>
            <a:pPr marL="241300" marR="290830" indent="-229235" algn="just">
              <a:lnSpc>
                <a:spcPts val="3000"/>
              </a:lnSpc>
              <a:spcBef>
                <a:spcPts val="480"/>
              </a:spcBef>
              <a:buFont typeface="Arial MT"/>
              <a:buChar char="•"/>
              <a:tabLst>
                <a:tab pos="241935" algn="l"/>
                <a:tab pos="2394585" algn="l"/>
              </a:tabLst>
            </a:pPr>
            <a:r>
              <a:rPr lang="en-US" sz="2200" dirty="0">
                <a:latin typeface="Times New Roman" panose="02020603050405020304" pitchFamily="18" charset="0"/>
                <a:cs typeface="Times New Roman" panose="02020603050405020304" pitchFamily="18" charset="0"/>
              </a:rPr>
              <a:t>Reshape the optimized data and train a hybrid CNN–</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model for intrusion detection.</a:t>
            </a:r>
          </a:p>
          <a:p>
            <a:pPr marL="241300" marR="290830" indent="-229235" algn="just">
              <a:lnSpc>
                <a:spcPts val="3000"/>
              </a:lnSpc>
              <a:spcBef>
                <a:spcPts val="480"/>
              </a:spcBef>
              <a:buFont typeface="Arial MT"/>
              <a:buChar char="•"/>
              <a:tabLst>
                <a:tab pos="241935" algn="l"/>
                <a:tab pos="2394585" algn="l"/>
              </a:tabLst>
            </a:pPr>
            <a:r>
              <a:rPr lang="en-US" sz="2200" dirty="0">
                <a:latin typeface="Times New Roman" panose="02020603050405020304" pitchFamily="18" charset="0"/>
                <a:cs typeface="Times New Roman" panose="02020603050405020304" pitchFamily="18" charset="0"/>
              </a:rPr>
              <a:t>Evaluate the model using accuracy, precision, recall, F1 score, and compare results with existing IDS models.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9771" y="152400"/>
            <a:ext cx="9726930" cy="632460"/>
          </a:xfrm>
          <a:prstGeom prst="rect">
            <a:avLst/>
          </a:prstGeom>
        </p:spPr>
        <p:txBody>
          <a:bodyPr vert="horz" wrap="square" lIns="0" tIns="16510" rIns="0" bIns="0" rtlCol="0">
            <a:spAutoFit/>
          </a:bodyPr>
          <a:lstStyle/>
          <a:p>
            <a:pPr marL="12700" algn="ctr">
              <a:lnSpc>
                <a:spcPct val="100000"/>
              </a:lnSpc>
              <a:spcBef>
                <a:spcPts val="130"/>
              </a:spcBef>
            </a:pPr>
            <a:r>
              <a:rPr sz="3950" spc="20" dirty="0"/>
              <a:t>FLOW</a:t>
            </a:r>
            <a:r>
              <a:rPr sz="3950" spc="-25" dirty="0"/>
              <a:t> </a:t>
            </a:r>
            <a:r>
              <a:rPr sz="3950" spc="5" dirty="0"/>
              <a:t>DIAGRAM</a:t>
            </a:r>
            <a:endParaRPr sz="3950" dirty="0"/>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3937994" y="6465822"/>
            <a:ext cx="936815"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2</a:t>
            </a:r>
            <a:endParaRPr sz="1200" dirty="0">
              <a:latin typeface="Times New Roman"/>
              <a:cs typeface="Times New Roman"/>
            </a:endParaRPr>
          </a:p>
        </p:txBody>
      </p:sp>
      <p:sp>
        <p:nvSpPr>
          <p:cNvPr id="6" name="object 6"/>
          <p:cNvSpPr txBox="1"/>
          <p:nvPr/>
        </p:nvSpPr>
        <p:spPr>
          <a:xfrm>
            <a:off x="5371781" y="6465822"/>
            <a:ext cx="9614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11</a:t>
            </a:fld>
            <a:endParaRPr dirty="0"/>
          </a:p>
        </p:txBody>
      </p:sp>
      <p:pic>
        <p:nvPicPr>
          <p:cNvPr id="12" name="Picture 11">
            <a:extLst>
              <a:ext uri="{FF2B5EF4-FFF2-40B4-BE49-F238E27FC236}">
                <a16:creationId xmlns:a16="http://schemas.microsoft.com/office/drawing/2014/main" id="{CBA24CBC-3BD6-45D8-98AD-2233E3CAB74C}"/>
              </a:ext>
            </a:extLst>
          </p:cNvPr>
          <p:cNvPicPr>
            <a:picLocks noChangeAspect="1"/>
          </p:cNvPicPr>
          <p:nvPr/>
        </p:nvPicPr>
        <p:blipFill>
          <a:blip r:embed="rId2"/>
          <a:stretch>
            <a:fillRect/>
          </a:stretch>
        </p:blipFill>
        <p:spPr>
          <a:xfrm>
            <a:off x="4012659" y="838200"/>
            <a:ext cx="4166681" cy="533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421243"/>
            <a:ext cx="8248014" cy="509114"/>
          </a:xfrm>
          <a:prstGeom prst="rect">
            <a:avLst/>
          </a:prstGeom>
        </p:spPr>
        <p:txBody>
          <a:bodyPr vert="horz" wrap="square" lIns="0" tIns="16510" rIns="0" bIns="0" rtlCol="0">
            <a:spAutoFit/>
          </a:bodyPr>
          <a:lstStyle/>
          <a:p>
            <a:pPr marL="12700">
              <a:lnSpc>
                <a:spcPct val="100000"/>
              </a:lnSpc>
              <a:spcBef>
                <a:spcPts val="130"/>
              </a:spcBef>
            </a:pPr>
            <a:r>
              <a:rPr lang="en-IN" sz="3200" spc="-30" dirty="0"/>
              <a:t>Implementation Work-Flow</a:t>
            </a:r>
            <a:endParaRPr sz="3200" spc="-30" dirty="0"/>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267200" y="6451049"/>
            <a:ext cx="917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7" name="object 7"/>
          <p:cNvSpPr txBox="1">
            <a:spLocks noGrp="1"/>
          </p:cNvSpPr>
          <p:nvPr>
            <p:ph type="ftr" sz="quarter" idx="5"/>
          </p:nvPr>
        </p:nvSpPr>
        <p:spPr>
          <a:xfrm>
            <a:off x="7163180" y="644366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12</a:t>
            </a:fld>
            <a:endParaRPr dirty="0"/>
          </a:p>
        </p:txBody>
      </p:sp>
      <p:sp>
        <p:nvSpPr>
          <p:cNvPr id="3" name="object 3"/>
          <p:cNvSpPr txBox="1"/>
          <p:nvPr/>
        </p:nvSpPr>
        <p:spPr>
          <a:xfrm>
            <a:off x="880998" y="990600"/>
            <a:ext cx="10430003" cy="5755422"/>
          </a:xfrm>
          <a:prstGeom prst="rect">
            <a:avLst/>
          </a:prstGeom>
        </p:spPr>
        <p:txBody>
          <a:bodyPr vert="horz" wrap="square" lIns="0" tIns="60960" rIns="0" bIns="0" rtlCol="0">
            <a:spAutoFit/>
          </a:bodyPr>
          <a:lstStyle/>
          <a:p>
            <a:pPr marL="457200" indent="-457200">
              <a:buAutoNum type="arabicPeriod"/>
            </a:pPr>
            <a:r>
              <a:rPr lang="en-IN" sz="2200" b="1" dirty="0">
                <a:latin typeface="Times New Roman" panose="02020603050405020304" pitchFamily="18" charset="0"/>
                <a:cs typeface="Times New Roman" panose="02020603050405020304" pitchFamily="18" charset="0"/>
              </a:rPr>
              <a:t>Data Preprocessing</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Load raw CICIDS2017 CSV files containing 80+ flow features.</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Remove rows with </a:t>
            </a:r>
            <a:r>
              <a:rPr lang="en-IN" sz="2000" dirty="0" err="1">
                <a:latin typeface="Times New Roman" panose="02020603050405020304" pitchFamily="18" charset="0"/>
                <a:cs typeface="Times New Roman" panose="02020603050405020304" pitchFamily="18" charset="0"/>
              </a:rPr>
              <a:t>NaN</a:t>
            </a:r>
            <a:r>
              <a:rPr lang="en-IN" sz="2000" dirty="0">
                <a:latin typeface="Times New Roman" panose="02020603050405020304" pitchFamily="18" charset="0"/>
                <a:cs typeface="Times New Roman" panose="02020603050405020304" pitchFamily="18" charset="0"/>
              </a:rPr>
              <a:t>/inf values and drop irrelevant fields (IP addresses).</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Encode attack labels into numeric format.</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Normalize all numeric features using Z-score scaling.</a:t>
            </a: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2</a:t>
            </a:r>
            <a:r>
              <a:rPr lang="en-IN" sz="2000" b="1"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Dimensionality Reduction (PCA)</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Fit PCA on the training set to eliminate redundant features.</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 dimensionality to ~30 components while preserving essential variance.</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Transform validation and test sets using the same PCA model.</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PCA Output → compact, noise-reduced feature vectors.</a:t>
            </a:r>
          </a:p>
          <a:p>
            <a:pPr marL="742950" lvl="1" indent="-28575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3. </a:t>
            </a:r>
            <a:r>
              <a:rPr lang="en-IN" sz="2200" b="1" dirty="0">
                <a:latin typeface="Times New Roman" panose="02020603050405020304" pitchFamily="18" charset="0"/>
                <a:cs typeface="Times New Roman" panose="02020603050405020304" pitchFamily="18" charset="0"/>
              </a:rPr>
              <a:t>Data Reshaping for Deep Learning</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Convert PCA output into 3D tensors suitable for CNN input.</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Typical shape: </a:t>
            </a:r>
            <a:r>
              <a:rPr lang="en-IN" sz="2000" b="1" dirty="0">
                <a:latin typeface="Times New Roman" panose="02020603050405020304" pitchFamily="18" charset="0"/>
                <a:cs typeface="Times New Roman" panose="02020603050405020304" pitchFamily="18" charset="0"/>
              </a:rPr>
              <a:t>(samples, components, 1)</a:t>
            </a:r>
            <a:r>
              <a:rPr lang="en-IN"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Reshaped Output → CNN-ready feature maps.</a:t>
            </a:r>
          </a:p>
          <a:p>
            <a:br>
              <a:rPr lang="en-IN" sz="2000" dirty="0"/>
            </a:b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65E8C-B48D-A4B8-9A1C-2E15EB7FBB86}"/>
              </a:ext>
            </a:extLst>
          </p:cNvPr>
          <p:cNvSpPr>
            <a:spLocks noGrp="1"/>
          </p:cNvSpPr>
          <p:nvPr>
            <p:ph type="title"/>
          </p:nvPr>
        </p:nvSpPr>
        <p:spPr>
          <a:xfrm>
            <a:off x="917575" y="529843"/>
            <a:ext cx="8467724" cy="689357"/>
          </a:xfrm>
        </p:spPr>
        <p:txBody>
          <a:bodyPr/>
          <a:lstStyle/>
          <a:p>
            <a:r>
              <a:rPr lang="en-US" sz="3200" dirty="0"/>
              <a:t>Hybrid Deep Learning Model Architecture</a:t>
            </a:r>
            <a:br>
              <a:rPr lang="en-US" dirty="0"/>
            </a:br>
            <a:endParaRPr lang="en-IN" sz="3200" dirty="0"/>
          </a:p>
        </p:txBody>
      </p:sp>
      <p:sp>
        <p:nvSpPr>
          <p:cNvPr id="3" name="Text Placeholder 2">
            <a:extLst>
              <a:ext uri="{FF2B5EF4-FFF2-40B4-BE49-F238E27FC236}">
                <a16:creationId xmlns:a16="http://schemas.microsoft.com/office/drawing/2014/main" id="{DFFFB435-7470-5B47-0F95-6256629A3E3C}"/>
              </a:ext>
            </a:extLst>
          </p:cNvPr>
          <p:cNvSpPr>
            <a:spLocks noGrp="1"/>
          </p:cNvSpPr>
          <p:nvPr>
            <p:ph type="body" idx="1"/>
          </p:nvPr>
        </p:nvSpPr>
        <p:spPr>
          <a:xfrm>
            <a:off x="917575" y="1371600"/>
            <a:ext cx="10436225" cy="4770537"/>
          </a:xfrm>
        </p:spPr>
        <p:txBody>
          <a:bodyPr/>
          <a:lstStyle/>
          <a:p>
            <a:r>
              <a:rPr lang="en-IN" sz="2400" b="1" dirty="0">
                <a:latin typeface="Times New Roman" panose="02020603050405020304" pitchFamily="18" charset="0"/>
                <a:cs typeface="Times New Roman" panose="02020603050405020304" pitchFamily="18" charset="0"/>
              </a:rPr>
              <a:t>4. </a:t>
            </a:r>
            <a:r>
              <a:rPr lang="en-IN" sz="2200" b="1" dirty="0">
                <a:latin typeface="Times New Roman" panose="02020603050405020304" pitchFamily="18" charset="0"/>
                <a:cs typeface="Times New Roman" panose="02020603050405020304" pitchFamily="18" charset="0"/>
              </a:rPr>
              <a:t>CNN Feature Extraction</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Apply convolutional layers to detect local spatial patterns in traffic features.</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 pooling and dropout to reduce complexity and prevent overfitting.</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CNN Output → compressed spatial feature representations.</a:t>
            </a: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5. </a:t>
            </a:r>
            <a:r>
              <a:rPr lang="en-IN" sz="2200" b="1" dirty="0">
                <a:latin typeface="Times New Roman" panose="02020603050405020304" pitchFamily="18" charset="0"/>
                <a:cs typeface="Times New Roman" panose="02020603050405020304" pitchFamily="18" charset="0"/>
              </a:rPr>
              <a:t>Temporal </a:t>
            </a:r>
            <a:r>
              <a:rPr lang="en-IN" sz="2200" b="1" dirty="0" err="1">
                <a:latin typeface="Times New Roman" panose="02020603050405020304" pitchFamily="18" charset="0"/>
                <a:cs typeface="Times New Roman" panose="02020603050405020304" pitchFamily="18" charset="0"/>
              </a:rPr>
              <a:t>Modeling</a:t>
            </a:r>
            <a:r>
              <a:rPr lang="en-IN" sz="2200" b="1" dirty="0">
                <a:latin typeface="Times New Roman" panose="02020603050405020304" pitchFamily="18" charset="0"/>
                <a:cs typeface="Times New Roman" panose="02020603050405020304" pitchFamily="18" charset="0"/>
              </a:rPr>
              <a:t> with </a:t>
            </a:r>
            <a:r>
              <a:rPr lang="en-IN" sz="2200" b="1" dirty="0" err="1">
                <a:latin typeface="Times New Roman" panose="02020603050405020304" pitchFamily="18" charset="0"/>
                <a:cs typeface="Times New Roman" panose="02020603050405020304" pitchFamily="18" charset="0"/>
              </a:rPr>
              <a:t>BiLSTM</a:t>
            </a:r>
            <a:endParaRPr lang="en-IN" sz="2200"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Reshape CNN output to sequence format if needed.</a:t>
            </a:r>
          </a:p>
          <a:p>
            <a:pPr marL="742950" lvl="1"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BiLSTM</a:t>
            </a:r>
            <a:r>
              <a:rPr lang="en-IN" sz="2000" dirty="0">
                <a:latin typeface="Times New Roman" panose="02020603050405020304" pitchFamily="18" charset="0"/>
                <a:cs typeface="Times New Roman" panose="02020603050405020304" pitchFamily="18" charset="0"/>
              </a:rPr>
              <a:t> processes data forward and backward, learning temporal attack </a:t>
            </a:r>
            <a:r>
              <a:rPr lang="en-IN" sz="2000" dirty="0" err="1">
                <a:latin typeface="Times New Roman" panose="02020603050405020304" pitchFamily="18" charset="0"/>
                <a:cs typeface="Times New Roman" panose="02020603050405020304" pitchFamily="18" charset="0"/>
              </a:rPr>
              <a:t>behaviors</a:t>
            </a:r>
            <a:r>
              <a:rPr lang="en-IN" sz="20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BiLSTM</a:t>
            </a:r>
            <a:r>
              <a:rPr lang="en-IN" sz="2000" b="1" dirty="0">
                <a:latin typeface="Times New Roman" panose="02020603050405020304" pitchFamily="18" charset="0"/>
                <a:cs typeface="Times New Roman" panose="02020603050405020304" pitchFamily="18" charset="0"/>
              </a:rPr>
              <a:t> Output → rich temporal embeddings capturing flow dynamics.</a:t>
            </a:r>
          </a:p>
          <a:p>
            <a:pPr marL="742950" lvl="1" indent="-285750">
              <a:buFont typeface="Arial" panose="020B0604020202020204" pitchFamily="34" charset="0"/>
              <a:buChar char="•"/>
            </a:pPr>
            <a:endParaRPr lang="en-IN" sz="20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6. </a:t>
            </a:r>
            <a:r>
              <a:rPr lang="en-IN" sz="2200" b="1" dirty="0">
                <a:latin typeface="Times New Roman" panose="02020603050405020304" pitchFamily="18" charset="0"/>
                <a:cs typeface="Times New Roman" panose="02020603050405020304" pitchFamily="18" charset="0"/>
              </a:rPr>
              <a:t>Classification Layer</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Pass embeddings into dense layers for final learning.</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Apply </a:t>
            </a:r>
            <a:r>
              <a:rPr lang="en-IN" sz="2000" dirty="0" err="1">
                <a:latin typeface="Times New Roman" panose="02020603050405020304" pitchFamily="18" charset="0"/>
                <a:cs typeface="Times New Roman" panose="02020603050405020304" pitchFamily="18" charset="0"/>
              </a:rPr>
              <a:t>softmax</a:t>
            </a:r>
            <a:r>
              <a:rPr lang="en-IN" sz="2000" dirty="0">
                <a:latin typeface="Times New Roman" panose="02020603050405020304" pitchFamily="18" charset="0"/>
                <a:cs typeface="Times New Roman" panose="02020603050405020304" pitchFamily="18" charset="0"/>
              </a:rPr>
              <a:t> activation to generate class probabilities.</a:t>
            </a:r>
          </a:p>
          <a:p>
            <a:pPr marL="742950" lvl="1"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Final Output → predicted attack category for each network flow.</a:t>
            </a:r>
            <a:endParaRPr lang="en-IN" sz="2000" dirty="0">
              <a:latin typeface="Times New Roman" panose="02020603050405020304" pitchFamily="18" charset="0"/>
              <a:cs typeface="Times New Roman" panose="02020603050405020304" pitchFamily="18" charset="0"/>
            </a:endParaRPr>
          </a:p>
          <a:p>
            <a:endParaRPr lang="en-IN" dirty="0"/>
          </a:p>
        </p:txBody>
      </p:sp>
      <p:sp>
        <p:nvSpPr>
          <p:cNvPr id="4" name="object 4">
            <a:extLst>
              <a:ext uri="{FF2B5EF4-FFF2-40B4-BE49-F238E27FC236}">
                <a16:creationId xmlns:a16="http://schemas.microsoft.com/office/drawing/2014/main" id="{383AE66E-50F2-E9A3-3E43-D2CDB748B0F7}"/>
              </a:ext>
            </a:extLst>
          </p:cNvPr>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a:extLst>
              <a:ext uri="{FF2B5EF4-FFF2-40B4-BE49-F238E27FC236}">
                <a16:creationId xmlns:a16="http://schemas.microsoft.com/office/drawing/2014/main" id="{9D5E6E88-4289-3D7A-52A8-E6A530EC3049}"/>
              </a:ext>
            </a:extLst>
          </p:cNvPr>
          <p:cNvSpPr txBox="1"/>
          <p:nvPr/>
        </p:nvSpPr>
        <p:spPr>
          <a:xfrm>
            <a:off x="3810000" y="6451049"/>
            <a:ext cx="917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a:extLst>
              <a:ext uri="{FF2B5EF4-FFF2-40B4-BE49-F238E27FC236}">
                <a16:creationId xmlns:a16="http://schemas.microsoft.com/office/drawing/2014/main" id="{F5F0D675-76A2-925C-85CE-9B11020549A2}"/>
              </a:ext>
            </a:extLst>
          </p:cNvPr>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7" name="object 7">
            <a:extLst>
              <a:ext uri="{FF2B5EF4-FFF2-40B4-BE49-F238E27FC236}">
                <a16:creationId xmlns:a16="http://schemas.microsoft.com/office/drawing/2014/main" id="{DEA047B4-DCED-DAA7-1A33-9B00B2B249D1}"/>
              </a:ext>
            </a:extLst>
          </p:cNvPr>
          <p:cNvSpPr txBox="1">
            <a:spLocks noGrp="1"/>
          </p:cNvSpPr>
          <p:nvPr>
            <p:ph type="ftr" sz="quarter" idx="5"/>
          </p:nvPr>
        </p:nvSpPr>
        <p:spPr>
          <a:xfrm>
            <a:off x="7163180" y="644366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12" name="TextBox 11">
            <a:extLst>
              <a:ext uri="{FF2B5EF4-FFF2-40B4-BE49-F238E27FC236}">
                <a16:creationId xmlns:a16="http://schemas.microsoft.com/office/drawing/2014/main" id="{2147446E-9DB0-72F4-1B85-DC54FB48C705}"/>
              </a:ext>
            </a:extLst>
          </p:cNvPr>
          <p:cNvSpPr txBox="1"/>
          <p:nvPr/>
        </p:nvSpPr>
        <p:spPr>
          <a:xfrm>
            <a:off x="11010900" y="6402316"/>
            <a:ext cx="685800" cy="276999"/>
          </a:xfrm>
          <a:prstGeom prst="rect">
            <a:avLst/>
          </a:prstGeom>
          <a:noFill/>
        </p:spPr>
        <p:txBody>
          <a:bodyPr wrap="square">
            <a:spAutoFit/>
          </a:bodyPr>
          <a:lstStyle/>
          <a:p>
            <a:fld id="{81D60167-4931-47E6-BA6A-407CBD079E47}" type="slidenum">
              <a:rPr lang="en-IN" sz="1200" smtClean="0">
                <a:latin typeface="Times New Roman" panose="02020603050405020304" pitchFamily="18" charset="0"/>
                <a:cs typeface="Times New Roman" panose="02020603050405020304" pitchFamily="18" charset="0"/>
              </a:rPr>
              <a:pPr/>
              <a:t>13</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2570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2517-89D7-5FA5-B3A0-1261E73F27DC}"/>
              </a:ext>
            </a:extLst>
          </p:cNvPr>
          <p:cNvSpPr>
            <a:spLocks noGrp="1"/>
          </p:cNvSpPr>
          <p:nvPr>
            <p:ph type="title"/>
          </p:nvPr>
        </p:nvSpPr>
        <p:spPr>
          <a:xfrm>
            <a:off x="917575" y="618101"/>
            <a:ext cx="10588624" cy="830281"/>
          </a:xfrm>
        </p:spPr>
        <p:txBody>
          <a:bodyPr/>
          <a:lstStyle/>
          <a:p>
            <a:r>
              <a:rPr lang="en-US" sz="3200" dirty="0"/>
              <a:t>Model Evaluation, Web Integration and Deployment</a:t>
            </a:r>
            <a:br>
              <a:rPr lang="en-US" dirty="0"/>
            </a:br>
            <a:br>
              <a:rPr lang="en-IN" dirty="0"/>
            </a:br>
            <a:endParaRPr lang="en-IN" dirty="0"/>
          </a:p>
        </p:txBody>
      </p:sp>
      <p:sp>
        <p:nvSpPr>
          <p:cNvPr id="3" name="Text Placeholder 2">
            <a:extLst>
              <a:ext uri="{FF2B5EF4-FFF2-40B4-BE49-F238E27FC236}">
                <a16:creationId xmlns:a16="http://schemas.microsoft.com/office/drawing/2014/main" id="{F8DDD0B1-BEF6-3280-D505-9E6730FF2D75}"/>
              </a:ext>
            </a:extLst>
          </p:cNvPr>
          <p:cNvSpPr>
            <a:spLocks noGrp="1"/>
          </p:cNvSpPr>
          <p:nvPr>
            <p:ph type="body" idx="1"/>
          </p:nvPr>
        </p:nvSpPr>
        <p:spPr>
          <a:xfrm>
            <a:off x="917575" y="1468702"/>
            <a:ext cx="10436225" cy="4462760"/>
          </a:xfrm>
        </p:spPr>
        <p:txBody>
          <a:bodyPr/>
          <a:lstStyle/>
          <a:p>
            <a:r>
              <a:rPr lang="en-IN" sz="2400" b="1" dirty="0">
                <a:latin typeface="Times New Roman" panose="02020603050405020304" pitchFamily="18" charset="0"/>
                <a:cs typeface="Times New Roman" panose="02020603050405020304" pitchFamily="18" charset="0"/>
              </a:rPr>
              <a:t>7. </a:t>
            </a:r>
            <a:r>
              <a:rPr lang="en-IN" sz="2200" b="1" dirty="0">
                <a:latin typeface="Times New Roman" panose="02020603050405020304" pitchFamily="18" charset="0"/>
                <a:cs typeface="Times New Roman" panose="02020603050405020304" pitchFamily="18" charset="0"/>
              </a:rPr>
              <a:t>Model Evaluation</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Evaluate using Accuracy, Precision, Recall, F1-Score, and FAR.</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Confusion matrix verifies class-wise prediction strength.</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Achieved </a:t>
            </a:r>
            <a:r>
              <a:rPr lang="en-IN" sz="2000" b="1" dirty="0">
                <a:latin typeface="Times New Roman" panose="02020603050405020304" pitchFamily="18" charset="0"/>
                <a:cs typeface="Times New Roman" panose="02020603050405020304" pitchFamily="18" charset="0"/>
              </a:rPr>
              <a:t>98.2% accuracy</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1.1% FAR</a:t>
            </a:r>
            <a:r>
              <a:rPr lang="en-IN" sz="2000" dirty="0">
                <a:latin typeface="Times New Roman" panose="02020603050405020304" pitchFamily="18" charset="0"/>
                <a:cs typeface="Times New Roman" panose="02020603050405020304" pitchFamily="18" charset="0"/>
              </a:rPr>
              <a:t>, outperforming many IDS models.</a:t>
            </a: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8. </a:t>
            </a:r>
            <a:r>
              <a:rPr lang="en-IN" sz="2200" b="1" dirty="0">
                <a:latin typeface="Times New Roman" panose="02020603050405020304" pitchFamily="18" charset="0"/>
                <a:cs typeface="Times New Roman" panose="02020603050405020304" pitchFamily="18" charset="0"/>
              </a:rPr>
              <a:t>Web Integration (Flask Interface)</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Users upload network CSV files through a simple web interface.</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Server preprocesses uploaded data → applies PCA → reshapes → runs model prediction.</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Outputs predicted labels, confidence scores, and downloadable results.</a:t>
            </a:r>
          </a:p>
          <a:p>
            <a:pPr marL="742950" lvl="1"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9. </a:t>
            </a:r>
            <a:r>
              <a:rPr lang="en-IN" sz="2200" b="1" dirty="0">
                <a:latin typeface="Times New Roman" panose="02020603050405020304" pitchFamily="18" charset="0"/>
                <a:cs typeface="Times New Roman" panose="02020603050405020304" pitchFamily="18" charset="0"/>
              </a:rPr>
              <a:t>Deployment</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Deploy as a standalone web service using Flask + Docker.</a:t>
            </a:r>
          </a:p>
          <a:p>
            <a:pPr marL="742950" lvl="1"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Optional optimizations: model quantization, ONNX export, edge deployment.</a:t>
            </a:r>
          </a:p>
          <a:p>
            <a:endParaRPr lang="en-IN" dirty="0"/>
          </a:p>
        </p:txBody>
      </p:sp>
      <p:sp>
        <p:nvSpPr>
          <p:cNvPr id="4" name="object 4">
            <a:extLst>
              <a:ext uri="{FF2B5EF4-FFF2-40B4-BE49-F238E27FC236}">
                <a16:creationId xmlns:a16="http://schemas.microsoft.com/office/drawing/2014/main" id="{348E93B5-AC8A-2AAD-4FA3-B80AEC05ACD2}"/>
              </a:ext>
            </a:extLst>
          </p:cNvPr>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7">
            <a:extLst>
              <a:ext uri="{FF2B5EF4-FFF2-40B4-BE49-F238E27FC236}">
                <a16:creationId xmlns:a16="http://schemas.microsoft.com/office/drawing/2014/main" id="{94657C11-1227-2A7B-7C7D-D2D01218E77B}"/>
              </a:ext>
            </a:extLst>
          </p:cNvPr>
          <p:cNvSpPr txBox="1">
            <a:spLocks noGrp="1"/>
          </p:cNvSpPr>
          <p:nvPr>
            <p:ph type="ftr" sz="quarter" idx="5"/>
          </p:nvPr>
        </p:nvSpPr>
        <p:spPr>
          <a:xfrm>
            <a:off x="7620000" y="6443662"/>
            <a:ext cx="1242059" cy="194309"/>
          </a:xfrm>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6" name="object 5">
            <a:extLst>
              <a:ext uri="{FF2B5EF4-FFF2-40B4-BE49-F238E27FC236}">
                <a16:creationId xmlns:a16="http://schemas.microsoft.com/office/drawing/2014/main" id="{7A60E169-4DA5-AD92-76F9-014B7897BAB1}"/>
              </a:ext>
            </a:extLst>
          </p:cNvPr>
          <p:cNvSpPr txBox="1"/>
          <p:nvPr/>
        </p:nvSpPr>
        <p:spPr>
          <a:xfrm>
            <a:off x="3261799" y="6456547"/>
            <a:ext cx="917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7" name="object 6">
            <a:extLst>
              <a:ext uri="{FF2B5EF4-FFF2-40B4-BE49-F238E27FC236}">
                <a16:creationId xmlns:a16="http://schemas.microsoft.com/office/drawing/2014/main" id="{9D64F90D-84B2-4C42-D9F3-6BED681C084D}"/>
              </a:ext>
            </a:extLst>
          </p:cNvPr>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
        <p:nvSpPr>
          <p:cNvPr id="8" name="TextBox 7">
            <a:extLst>
              <a:ext uri="{FF2B5EF4-FFF2-40B4-BE49-F238E27FC236}">
                <a16:creationId xmlns:a16="http://schemas.microsoft.com/office/drawing/2014/main" id="{CD7C3BB6-4781-09CB-731B-08158A4350F2}"/>
              </a:ext>
            </a:extLst>
          </p:cNvPr>
          <p:cNvSpPr txBox="1"/>
          <p:nvPr/>
        </p:nvSpPr>
        <p:spPr>
          <a:xfrm>
            <a:off x="11010900" y="6402316"/>
            <a:ext cx="685800" cy="276999"/>
          </a:xfrm>
          <a:prstGeom prst="rect">
            <a:avLst/>
          </a:prstGeom>
          <a:noFill/>
        </p:spPr>
        <p:txBody>
          <a:bodyPr wrap="square">
            <a:spAutoFit/>
          </a:bodyPr>
          <a:lstStyle/>
          <a:p>
            <a:fld id="{81D60167-4931-47E6-BA6A-407CBD079E47}" type="slidenum">
              <a:rPr lang="en-IN" sz="1200" smtClean="0">
                <a:latin typeface="Times New Roman" panose="02020603050405020304" pitchFamily="18" charset="0"/>
                <a:cs typeface="Times New Roman" panose="02020603050405020304" pitchFamily="18" charset="0"/>
              </a:rPr>
              <a:pPr/>
              <a:t>14</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675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73E4A0-4994-5F13-18EC-915ACF5BEDE7}"/>
              </a:ext>
            </a:extLst>
          </p:cNvPr>
          <p:cNvSpPr txBox="1"/>
          <p:nvPr/>
        </p:nvSpPr>
        <p:spPr>
          <a:xfrm>
            <a:off x="11010900" y="6402316"/>
            <a:ext cx="685800" cy="276999"/>
          </a:xfrm>
          <a:prstGeom prst="rect">
            <a:avLst/>
          </a:prstGeom>
          <a:noFill/>
        </p:spPr>
        <p:txBody>
          <a:bodyPr wrap="square">
            <a:spAutoFit/>
          </a:bodyPr>
          <a:lstStyle/>
          <a:p>
            <a:fld id="{81D60167-4931-47E6-BA6A-407CBD079E47}" type="slidenum">
              <a:rPr lang="en-IN" sz="1200" smtClean="0">
                <a:latin typeface="Times New Roman" panose="02020603050405020304" pitchFamily="18" charset="0"/>
                <a:cs typeface="Times New Roman" panose="02020603050405020304" pitchFamily="18" charset="0"/>
              </a:rPr>
              <a:pPr/>
              <a:t>15</a:t>
            </a:fld>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5E1DBD4-1F48-4020-D147-CB1ED3E76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962799"/>
            <a:ext cx="9906000" cy="5105400"/>
          </a:xfrm>
          <a:prstGeom prst="rect">
            <a:avLst/>
          </a:prstGeom>
        </p:spPr>
      </p:pic>
    </p:spTree>
    <p:extLst>
      <p:ext uri="{BB962C8B-B14F-4D97-AF65-F5344CB8AC3E}">
        <p14:creationId xmlns:p14="http://schemas.microsoft.com/office/powerpoint/2010/main" val="723179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546DF1-126A-3F0A-1C61-6BD1C42C08C5}"/>
              </a:ext>
            </a:extLst>
          </p:cNvPr>
          <p:cNvSpPr txBox="1"/>
          <p:nvPr/>
        </p:nvSpPr>
        <p:spPr>
          <a:xfrm>
            <a:off x="11010900" y="6402316"/>
            <a:ext cx="685800" cy="276999"/>
          </a:xfrm>
          <a:prstGeom prst="rect">
            <a:avLst/>
          </a:prstGeom>
          <a:noFill/>
        </p:spPr>
        <p:txBody>
          <a:bodyPr wrap="square">
            <a:spAutoFit/>
          </a:bodyPr>
          <a:lstStyle/>
          <a:p>
            <a:fld id="{81D60167-4931-47E6-BA6A-407CBD079E47}" type="slidenum">
              <a:rPr lang="en-IN" sz="1200" smtClean="0">
                <a:latin typeface="Times New Roman" panose="02020603050405020304" pitchFamily="18" charset="0"/>
                <a:cs typeface="Times New Roman" panose="02020603050405020304" pitchFamily="18" charset="0"/>
              </a:rPr>
              <a:pPr/>
              <a:t>16</a:t>
            </a:fld>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59A8FE0-27B2-E212-7CFB-49F8C02F61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838200"/>
            <a:ext cx="9448800" cy="5410200"/>
          </a:xfrm>
          <a:prstGeom prst="rect">
            <a:avLst/>
          </a:prstGeom>
        </p:spPr>
      </p:pic>
    </p:spTree>
    <p:extLst>
      <p:ext uri="{BB962C8B-B14F-4D97-AF65-F5344CB8AC3E}">
        <p14:creationId xmlns:p14="http://schemas.microsoft.com/office/powerpoint/2010/main" val="64422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85752A-211E-D32F-F9EC-6AE13B66D523}"/>
              </a:ext>
            </a:extLst>
          </p:cNvPr>
          <p:cNvSpPr txBox="1"/>
          <p:nvPr/>
        </p:nvSpPr>
        <p:spPr>
          <a:xfrm>
            <a:off x="11010900" y="6402316"/>
            <a:ext cx="685800" cy="276999"/>
          </a:xfrm>
          <a:prstGeom prst="rect">
            <a:avLst/>
          </a:prstGeom>
          <a:noFill/>
        </p:spPr>
        <p:txBody>
          <a:bodyPr wrap="square">
            <a:spAutoFit/>
          </a:bodyPr>
          <a:lstStyle/>
          <a:p>
            <a:fld id="{81D60167-4931-47E6-BA6A-407CBD079E47}" type="slidenum">
              <a:rPr lang="en-IN" sz="1200" smtClean="0">
                <a:latin typeface="Times New Roman" panose="02020603050405020304" pitchFamily="18" charset="0"/>
                <a:cs typeface="Times New Roman" panose="02020603050405020304" pitchFamily="18" charset="0"/>
              </a:rPr>
              <a:pPr/>
              <a:t>17</a:t>
            </a:fld>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EA1150E-26B0-6379-FBF8-9D1FD2E604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914400"/>
            <a:ext cx="10058400" cy="5344459"/>
          </a:xfrm>
          <a:prstGeom prst="rect">
            <a:avLst/>
          </a:prstGeom>
        </p:spPr>
      </p:pic>
    </p:spTree>
    <p:extLst>
      <p:ext uri="{BB962C8B-B14F-4D97-AF65-F5344CB8AC3E}">
        <p14:creationId xmlns:p14="http://schemas.microsoft.com/office/powerpoint/2010/main" val="2580749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449727"/>
            <a:ext cx="9220200" cy="693780"/>
          </a:xfrm>
          <a:prstGeom prst="rect">
            <a:avLst/>
          </a:prstGeom>
        </p:spPr>
        <p:txBody>
          <a:bodyPr vert="horz" wrap="square" lIns="0" tIns="16510" rIns="0" bIns="0" rtlCol="0">
            <a:spAutoFit/>
          </a:bodyPr>
          <a:lstStyle/>
          <a:p>
            <a:pPr marL="12700" algn="ctr">
              <a:lnSpc>
                <a:spcPct val="100000"/>
              </a:lnSpc>
              <a:spcBef>
                <a:spcPts val="130"/>
              </a:spcBef>
            </a:pPr>
            <a:r>
              <a:rPr spc="45" dirty="0"/>
              <a:t>R</a:t>
            </a:r>
            <a:r>
              <a:rPr spc="-10" dirty="0"/>
              <a:t>E</a:t>
            </a:r>
            <a:r>
              <a:rPr spc="20" dirty="0"/>
              <a:t>S</a:t>
            </a:r>
            <a:r>
              <a:rPr spc="45" dirty="0"/>
              <a:t>U</a:t>
            </a:r>
            <a:r>
              <a:rPr spc="-385" dirty="0"/>
              <a:t>L</a:t>
            </a:r>
            <a:r>
              <a:rPr spc="-10" dirty="0"/>
              <a:t>T</a:t>
            </a:r>
            <a:r>
              <a:rPr spc="15" dirty="0"/>
              <a:t>S</a:t>
            </a:r>
            <a:r>
              <a:rPr spc="-120" dirty="0"/>
              <a:t> </a:t>
            </a:r>
            <a:r>
              <a:rPr lang="en-US" spc="25" dirty="0"/>
              <a:t>AND</a:t>
            </a:r>
            <a:r>
              <a:rPr spc="-290" dirty="0"/>
              <a:t> </a:t>
            </a:r>
            <a:r>
              <a:rPr spc="45" dirty="0"/>
              <a:t>ANA</a:t>
            </a:r>
            <a:r>
              <a:rPr spc="-385" dirty="0"/>
              <a:t>L</a:t>
            </a:r>
            <a:r>
              <a:rPr spc="-25" dirty="0"/>
              <a:t>Y</a:t>
            </a:r>
            <a:r>
              <a:rPr spc="20" dirty="0"/>
              <a:t>S</a:t>
            </a:r>
            <a:r>
              <a:rPr spc="10" dirty="0"/>
              <a:t>IS</a:t>
            </a:r>
          </a:p>
        </p:txBody>
      </p:sp>
      <p:sp>
        <p:nvSpPr>
          <p:cNvPr id="5" name="object 5"/>
          <p:cNvSpPr txBox="1"/>
          <p:nvPr/>
        </p:nvSpPr>
        <p:spPr>
          <a:xfrm>
            <a:off x="4426330" y="6451049"/>
            <a:ext cx="98387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2" y="6451049"/>
            <a:ext cx="983870"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18</a:t>
            </a:fld>
            <a:endParaRPr dirty="0"/>
          </a:p>
        </p:txBody>
      </p:sp>
      <p:sp>
        <p:nvSpPr>
          <p:cNvPr id="13" name="TextBox 12">
            <a:extLst>
              <a:ext uri="{FF2B5EF4-FFF2-40B4-BE49-F238E27FC236}">
                <a16:creationId xmlns:a16="http://schemas.microsoft.com/office/drawing/2014/main" id="{ED97B5B9-68C6-9894-5929-0D13DC52AFD4}"/>
              </a:ext>
            </a:extLst>
          </p:cNvPr>
          <p:cNvSpPr txBox="1"/>
          <p:nvPr/>
        </p:nvSpPr>
        <p:spPr>
          <a:xfrm>
            <a:off x="1667510" y="5334000"/>
            <a:ext cx="3133090" cy="369332"/>
          </a:xfrm>
          <a:prstGeom prst="rect">
            <a:avLst/>
          </a:prstGeom>
          <a:noFill/>
        </p:spPr>
        <p:txBody>
          <a:bodyPr wrap="square" rtlCol="0">
            <a:spAutoFit/>
          </a:bodyPr>
          <a:lstStyle/>
          <a:p>
            <a:r>
              <a:rPr lang="en-US" sz="1800" dirty="0">
                <a:effectLst/>
                <a:latin typeface="Times New Roman" panose="02020603050405020304" pitchFamily="18" charset="0"/>
                <a:ea typeface="SimSun" panose="02010600030101010101" pitchFamily="2" charset="-122"/>
              </a:rPr>
              <a:t>           Fig. Accuracy Report</a:t>
            </a:r>
            <a:endParaRPr lang="en-IN" dirty="0"/>
          </a:p>
        </p:txBody>
      </p:sp>
      <p:sp>
        <p:nvSpPr>
          <p:cNvPr id="14" name="TextBox 13">
            <a:extLst>
              <a:ext uri="{FF2B5EF4-FFF2-40B4-BE49-F238E27FC236}">
                <a16:creationId xmlns:a16="http://schemas.microsoft.com/office/drawing/2014/main" id="{8DC8F3F0-5F44-F669-C8AD-7D2EED5393E5}"/>
              </a:ext>
            </a:extLst>
          </p:cNvPr>
          <p:cNvSpPr txBox="1"/>
          <p:nvPr/>
        </p:nvSpPr>
        <p:spPr>
          <a:xfrm>
            <a:off x="7711441" y="5343643"/>
            <a:ext cx="2667000" cy="369332"/>
          </a:xfrm>
          <a:prstGeom prst="rect">
            <a:avLst/>
          </a:prstGeom>
          <a:noFill/>
        </p:spPr>
        <p:txBody>
          <a:bodyPr wrap="square" rtlCol="0">
            <a:spAutoFit/>
          </a:bodyPr>
          <a:lstStyle/>
          <a:p>
            <a:pPr algn="ctr"/>
            <a:r>
              <a:rPr lang="en-US" sz="1800" dirty="0">
                <a:effectLst/>
                <a:latin typeface="Times New Roman" panose="02020603050405020304" pitchFamily="18" charset="0"/>
                <a:ea typeface="SimSun" panose="02010600030101010101" pitchFamily="2" charset="-122"/>
              </a:rPr>
              <a:t>Fig. Loss Report</a:t>
            </a:r>
            <a:endParaRPr lang="en-IN" sz="1800" dirty="0">
              <a:effectLst/>
              <a:latin typeface="Times New Roman" panose="02020603050405020304" pitchFamily="18" charset="0"/>
              <a:ea typeface="SimSun" panose="02010600030101010101" pitchFamily="2" charset="-122"/>
            </a:endParaRPr>
          </a:p>
        </p:txBody>
      </p:sp>
      <p:sp>
        <p:nvSpPr>
          <p:cNvPr id="3" name="AutoShape 2">
            <a:extLst>
              <a:ext uri="{FF2B5EF4-FFF2-40B4-BE49-F238E27FC236}">
                <a16:creationId xmlns:a16="http://schemas.microsoft.com/office/drawing/2014/main" id="{5A605D3B-0638-C526-1E8E-2792F92B8B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4">
            <a:extLst>
              <a:ext uri="{FF2B5EF4-FFF2-40B4-BE49-F238E27FC236}">
                <a16:creationId xmlns:a16="http://schemas.microsoft.com/office/drawing/2014/main" id="{98A503BE-77FC-03E3-8077-B822235D95B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DF363F26-5559-5CA1-416C-4FD8EC60F119}"/>
              </a:ext>
            </a:extLst>
          </p:cNvPr>
          <p:cNvPicPr>
            <a:picLocks noChangeAspect="1"/>
          </p:cNvPicPr>
          <p:nvPr/>
        </p:nvPicPr>
        <p:blipFill>
          <a:blip r:embed="rId2"/>
          <a:stretch>
            <a:fillRect/>
          </a:stretch>
        </p:blipFill>
        <p:spPr>
          <a:xfrm>
            <a:off x="1295400" y="1600200"/>
            <a:ext cx="4736431" cy="3700928"/>
          </a:xfrm>
          <a:prstGeom prst="rect">
            <a:avLst/>
          </a:prstGeom>
        </p:spPr>
      </p:pic>
      <p:pic>
        <p:nvPicPr>
          <p:cNvPr id="15" name="Picture 14">
            <a:extLst>
              <a:ext uri="{FF2B5EF4-FFF2-40B4-BE49-F238E27FC236}">
                <a16:creationId xmlns:a16="http://schemas.microsoft.com/office/drawing/2014/main" id="{2B95B2A8-CE0E-F823-4CFA-4168EA6BFA05}"/>
              </a:ext>
            </a:extLst>
          </p:cNvPr>
          <p:cNvPicPr>
            <a:picLocks noChangeAspect="1"/>
          </p:cNvPicPr>
          <p:nvPr/>
        </p:nvPicPr>
        <p:blipFill>
          <a:blip r:embed="rId3"/>
          <a:stretch>
            <a:fillRect/>
          </a:stretch>
        </p:blipFill>
        <p:spPr>
          <a:xfrm>
            <a:off x="6857999" y="1524000"/>
            <a:ext cx="4453001" cy="3657599"/>
          </a:xfrm>
          <a:prstGeom prst="rect">
            <a:avLst/>
          </a:prstGeom>
        </p:spPr>
      </p:pic>
      <p:sp>
        <p:nvSpPr>
          <p:cNvPr id="16" name="object 4">
            <a:extLst>
              <a:ext uri="{FF2B5EF4-FFF2-40B4-BE49-F238E27FC236}">
                <a16:creationId xmlns:a16="http://schemas.microsoft.com/office/drawing/2014/main" id="{527B9390-C550-1ED5-F39E-E3BB7BB04B5A}"/>
              </a:ext>
            </a:extLst>
          </p:cNvPr>
          <p:cNvSpPr txBox="1">
            <a:spLocks noGrp="1"/>
          </p:cNvSpPr>
          <p:nvPr>
            <p:ph type="dt" sz="half" idx="6"/>
          </p:nvPr>
        </p:nvSpPr>
        <p:spPr>
          <a:xfrm>
            <a:off x="917575" y="6451600"/>
            <a:ext cx="749300" cy="179388"/>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17" name="object 6">
            <a:extLst>
              <a:ext uri="{FF2B5EF4-FFF2-40B4-BE49-F238E27FC236}">
                <a16:creationId xmlns:a16="http://schemas.microsoft.com/office/drawing/2014/main" id="{B9454A5B-4B9E-F231-47BD-8357592336CD}"/>
              </a:ext>
            </a:extLst>
          </p:cNvPr>
          <p:cNvSpPr txBox="1"/>
          <p:nvPr/>
        </p:nvSpPr>
        <p:spPr>
          <a:xfrm>
            <a:off x="5492331" y="6451049"/>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9287" y="685800"/>
            <a:ext cx="10393426" cy="693780"/>
          </a:xfrm>
          <a:prstGeom prst="rect">
            <a:avLst/>
          </a:prstGeom>
        </p:spPr>
        <p:txBody>
          <a:bodyPr vert="horz" wrap="square" lIns="0" tIns="16510" rIns="0" bIns="0" rtlCol="0">
            <a:spAutoFit/>
          </a:bodyPr>
          <a:lstStyle/>
          <a:p>
            <a:pPr marL="12700" algn="ctr">
              <a:lnSpc>
                <a:spcPct val="100000"/>
              </a:lnSpc>
              <a:spcBef>
                <a:spcPts val="130"/>
              </a:spcBef>
            </a:pPr>
            <a:r>
              <a:rPr spc="20" dirty="0"/>
              <a:t>CONCLUSION</a:t>
            </a:r>
            <a:r>
              <a:rPr spc="-275" dirty="0"/>
              <a:t> </a:t>
            </a:r>
            <a:r>
              <a:rPr lang="en-IN" spc="25" dirty="0"/>
              <a:t>AND</a:t>
            </a:r>
            <a:r>
              <a:rPr spc="-65" dirty="0"/>
              <a:t> </a:t>
            </a:r>
            <a:r>
              <a:rPr spc="25" dirty="0"/>
              <a:t>FUTURE</a:t>
            </a:r>
            <a:r>
              <a:rPr spc="-250" dirty="0"/>
              <a:t> </a:t>
            </a:r>
            <a:r>
              <a:rPr spc="25" dirty="0"/>
              <a:t>SCOPE</a:t>
            </a:r>
          </a:p>
        </p:txBody>
      </p:sp>
      <p:sp>
        <p:nvSpPr>
          <p:cNvPr id="5" name="object 5"/>
          <p:cNvSpPr txBox="1"/>
          <p:nvPr/>
        </p:nvSpPr>
        <p:spPr>
          <a:xfrm>
            <a:off x="3886200" y="6451049"/>
            <a:ext cx="12983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19</a:t>
            </a:fld>
            <a:endParaRPr dirty="0"/>
          </a:p>
        </p:txBody>
      </p:sp>
      <p:sp>
        <p:nvSpPr>
          <p:cNvPr id="3" name="object 3"/>
          <p:cNvSpPr txBox="1"/>
          <p:nvPr/>
        </p:nvSpPr>
        <p:spPr>
          <a:xfrm>
            <a:off x="917575" y="1828800"/>
            <a:ext cx="8836025" cy="792525"/>
          </a:xfrm>
          <a:prstGeom prst="rect">
            <a:avLst/>
          </a:prstGeom>
        </p:spPr>
        <p:txBody>
          <a:bodyPr vert="horz" wrap="square" lIns="0" tIns="99060" rIns="0" bIns="0" rtlCol="0">
            <a:spAutoFit/>
          </a:bodyPr>
          <a:lstStyle/>
          <a:p>
            <a:pPr>
              <a:lnSpc>
                <a:spcPct val="100000"/>
              </a:lnSpc>
              <a:spcBef>
                <a:spcPts val="50"/>
              </a:spcBef>
            </a:pPr>
            <a:endParaRPr lang="en-IN" sz="4500" dirty="0">
              <a:latin typeface="Times New Roman"/>
              <a:cs typeface="Times New Roman"/>
            </a:endParaRPr>
          </a:p>
        </p:txBody>
      </p:sp>
      <p:sp>
        <p:nvSpPr>
          <p:cNvPr id="10" name="TextBox 9">
            <a:extLst>
              <a:ext uri="{FF2B5EF4-FFF2-40B4-BE49-F238E27FC236}">
                <a16:creationId xmlns:a16="http://schemas.microsoft.com/office/drawing/2014/main" id="{9DC4A0A2-9D3F-B7E9-6CA7-0DAE36D65ACB}"/>
              </a:ext>
            </a:extLst>
          </p:cNvPr>
          <p:cNvSpPr txBox="1"/>
          <p:nvPr/>
        </p:nvSpPr>
        <p:spPr>
          <a:xfrm>
            <a:off x="917574" y="1828800"/>
            <a:ext cx="10436225" cy="2800767"/>
          </a:xfrm>
          <a:prstGeom prst="rect">
            <a:avLst/>
          </a:prstGeom>
          <a:noFill/>
        </p:spPr>
        <p:txBody>
          <a:bodyPr wrap="square">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integration of PCA with CNN–</a:t>
            </a:r>
            <a:r>
              <a:rPr lang="en-US" sz="2200" dirty="0" err="1">
                <a:latin typeface="Times New Roman" panose="02020603050405020304" pitchFamily="18" charset="0"/>
                <a:cs typeface="Times New Roman" panose="02020603050405020304" pitchFamily="18" charset="0"/>
              </a:rPr>
              <a:t>BiLSTM</a:t>
            </a:r>
            <a:r>
              <a:rPr lang="en-US" sz="2200" dirty="0">
                <a:latin typeface="Times New Roman" panose="02020603050405020304" pitchFamily="18" charset="0"/>
                <a:cs typeface="Times New Roman" panose="02020603050405020304" pitchFamily="18" charset="0"/>
              </a:rPr>
              <a:t> creates an efficient and accurate intrusion detection system, improving the ability to identify cyber threats across multiple attack types.</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model enhances network security by effectively analyzing traffic patterns, reducing false alarms, and providing reliable detection suitable for real-time environments.</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By combining advanced deep learning techniques with a streamlined workflow, the system offers a powerful and scalable IDS solution for organizations, improving overall cybersecurity and threat management.</a:t>
            </a:r>
          </a:p>
        </p:txBody>
      </p:sp>
      <p:sp>
        <p:nvSpPr>
          <p:cNvPr id="9" name="object 4">
            <a:extLst>
              <a:ext uri="{FF2B5EF4-FFF2-40B4-BE49-F238E27FC236}">
                <a16:creationId xmlns:a16="http://schemas.microsoft.com/office/drawing/2014/main" id="{1F9C0AE2-C930-BDF8-7E6F-BA629184B715}"/>
              </a:ext>
            </a:extLst>
          </p:cNvPr>
          <p:cNvSpPr txBox="1">
            <a:spLocks/>
          </p:cNvSpPr>
          <p:nvPr/>
        </p:nvSpPr>
        <p:spPr>
          <a:xfrm>
            <a:off x="890756" y="6451049"/>
            <a:ext cx="749935" cy="179536"/>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888888"/>
                </a:solidFill>
                <a:latin typeface="Times New Roman"/>
                <a:ea typeface="+mn-ea"/>
                <a:cs typeface="Times New Roman"/>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ts val="1410"/>
              </a:lnSpc>
            </a:pPr>
            <a:r>
              <a:rPr lang="en-IN" spc="5" dirty="0"/>
              <a:t>05-12-2025</a:t>
            </a:r>
          </a:p>
        </p:txBody>
      </p:sp>
      <p:sp>
        <p:nvSpPr>
          <p:cNvPr id="11" name="object 6">
            <a:extLst>
              <a:ext uri="{FF2B5EF4-FFF2-40B4-BE49-F238E27FC236}">
                <a16:creationId xmlns:a16="http://schemas.microsoft.com/office/drawing/2014/main" id="{85548720-C0D2-13A1-66BD-E666D39671B9}"/>
              </a:ext>
            </a:extLst>
          </p:cNvPr>
          <p:cNvSpPr txBox="1"/>
          <p:nvPr/>
        </p:nvSpPr>
        <p:spPr>
          <a:xfrm>
            <a:off x="5335587" y="6456857"/>
            <a:ext cx="1037655"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 CB2</a:t>
            </a:r>
            <a:endParaRPr sz="12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7910" y="529843"/>
            <a:ext cx="3807460" cy="701040"/>
          </a:xfrm>
          <a:prstGeom prst="rect">
            <a:avLst/>
          </a:prstGeom>
        </p:spPr>
        <p:txBody>
          <a:bodyPr vert="horz" wrap="square" lIns="0" tIns="16510" rIns="0" bIns="0" rtlCol="0">
            <a:spAutoFit/>
          </a:bodyPr>
          <a:lstStyle/>
          <a:p>
            <a:pPr marL="12700">
              <a:lnSpc>
                <a:spcPct val="100000"/>
              </a:lnSpc>
              <a:spcBef>
                <a:spcPts val="130"/>
              </a:spcBef>
            </a:pPr>
            <a:r>
              <a:rPr spc="15" dirty="0"/>
              <a:t>REFERENCES</a:t>
            </a:r>
          </a:p>
        </p:txBody>
      </p:sp>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038600" y="6451049"/>
            <a:ext cx="11459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2" y="6451049"/>
            <a:ext cx="928054"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20</a:t>
            </a:fld>
            <a:endParaRPr dirty="0"/>
          </a:p>
        </p:txBody>
      </p:sp>
      <p:sp>
        <p:nvSpPr>
          <p:cNvPr id="3" name="object 3"/>
          <p:cNvSpPr txBox="1"/>
          <p:nvPr/>
        </p:nvSpPr>
        <p:spPr>
          <a:xfrm>
            <a:off x="917575" y="1336357"/>
            <a:ext cx="10283825" cy="5556008"/>
          </a:xfrm>
          <a:prstGeom prst="rect">
            <a:avLst/>
          </a:prstGeom>
        </p:spPr>
        <p:txBody>
          <a:bodyPr vert="horz" wrap="square" lIns="0" tIns="15875" rIns="0" bIns="0" rtlCol="0">
            <a:spAutoFit/>
          </a:bodyPr>
          <a:lstStyle/>
          <a:p>
            <a:pPr marL="457200" indent="-457200" algn="just">
              <a:lnSpc>
                <a:spcPts val="2455"/>
              </a:lnSpc>
              <a:spcBef>
                <a:spcPts val="125"/>
              </a:spcBef>
              <a:buFontTx/>
              <a:buAutoNum type="arabicPeriod"/>
              <a:tabLst>
                <a:tab pos="457200" algn="l"/>
                <a:tab pos="470534" algn="l"/>
              </a:tabLst>
            </a:pPr>
            <a:r>
              <a:rPr lang="en-US" sz="2000" dirty="0">
                <a:latin typeface="Times New Roman" panose="02020603050405020304" pitchFamily="18" charset="0"/>
                <a:cs typeface="Times New Roman" panose="02020603050405020304" pitchFamily="18" charset="0"/>
              </a:rPr>
              <a:t>A. S. Mohamed, A. M. </a:t>
            </a:r>
            <a:r>
              <a:rPr lang="en-US" sz="2000" dirty="0" err="1">
                <a:latin typeface="Times New Roman" panose="02020603050405020304" pitchFamily="18" charset="0"/>
                <a:cs typeface="Times New Roman" panose="02020603050405020304" pitchFamily="18" charset="0"/>
              </a:rPr>
              <a:t>Abdelmaksoud</a:t>
            </a:r>
            <a:r>
              <a:rPr lang="en-US" sz="2000" dirty="0">
                <a:latin typeface="Times New Roman" panose="02020603050405020304" pitchFamily="18" charset="0"/>
                <a:cs typeface="Times New Roman" panose="02020603050405020304" pitchFamily="18" charset="0"/>
              </a:rPr>
              <a:t>, and M. M. Selim, "Artificial Intelligence Techniques in Cybersecurity: Challenges and Future Directions," Knowledge and Information Systems, vol. 67, pp. 1803–1841, 2025.</a:t>
            </a:r>
            <a:endParaRPr lang="en-US" sz="2000" dirty="0">
              <a:solidFill>
                <a:srgbClr val="0D0D0D"/>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IN" sz="2000" dirty="0">
                <a:latin typeface="Times New Roman" panose="02020603050405020304" pitchFamily="18" charset="0"/>
                <a:cs typeface="Times New Roman" panose="02020603050405020304" pitchFamily="18" charset="0"/>
              </a:rPr>
              <a:t>S. Abdulkareem et al., "Deep Hybrid Intrusion Detection in IoT Using CNN–</a:t>
            </a:r>
            <a:r>
              <a:rPr lang="en-IN" sz="2000" dirty="0" err="1">
                <a:latin typeface="Times New Roman" panose="02020603050405020304" pitchFamily="18" charset="0"/>
                <a:cs typeface="Times New Roman" panose="02020603050405020304" pitchFamily="18" charset="0"/>
              </a:rPr>
              <a:t>BiGRU</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BiLSTM</a:t>
            </a:r>
            <a:r>
              <a:rPr lang="en-IN" sz="2000" dirty="0">
                <a:latin typeface="Times New Roman" panose="02020603050405020304" pitchFamily="18" charset="0"/>
                <a:cs typeface="Times New Roman" panose="02020603050405020304" pitchFamily="18" charset="0"/>
              </a:rPr>
              <a:t> Optimized with Metaheuristics," Information Systems and Informatics, vol. 45, no. 2, pp. 310–321, 2023.</a:t>
            </a:r>
            <a:endParaRPr lang="en-IN"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US" sz="2000" dirty="0">
                <a:latin typeface="Times New Roman" panose="02020603050405020304" pitchFamily="18" charset="0"/>
                <a:cs typeface="Times New Roman" panose="02020603050405020304" pitchFamily="18" charset="0"/>
              </a:rPr>
              <a:t>A. Khayat, N. Xiong, and R. Doss, "Adaptive Intrusion Detection in IoT Through Reinforcement Learning and Deep Feature Engineering," </a:t>
            </a:r>
            <a:r>
              <a:rPr lang="en-US" sz="2000" dirty="0" err="1">
                <a:latin typeface="Times New Roman" panose="02020603050405020304" pitchFamily="18" charset="0"/>
                <a:cs typeface="Times New Roman" panose="02020603050405020304" pitchFamily="18" charset="0"/>
              </a:rPr>
              <a:t>arXiv</a:t>
            </a:r>
            <a:r>
              <a:rPr lang="en-US" sz="2000" dirty="0">
                <a:latin typeface="Times New Roman" panose="02020603050405020304" pitchFamily="18" charset="0"/>
                <a:cs typeface="Times New Roman" panose="02020603050405020304" pitchFamily="18" charset="0"/>
              </a:rPr>
              <a:t> preprint arXiv:2205.12466, 2022.</a:t>
            </a:r>
            <a:endParaRPr lang="en-US" sz="2000" dirty="0">
              <a:solidFill>
                <a:srgbClr val="0D0D0D"/>
              </a:solidFill>
              <a:effectLst/>
              <a:latin typeface="Times New Roman" panose="02020603050405020304" pitchFamily="18" charset="0"/>
              <a:ea typeface="MS Mincho" panose="02020609040205080304" pitchFamily="49" charset="-128"/>
              <a:cs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US" sz="2000" dirty="0">
                <a:latin typeface="Times New Roman" panose="02020603050405020304" pitchFamily="18" charset="0"/>
                <a:cs typeface="Times New Roman" panose="02020603050405020304" pitchFamily="18" charset="0"/>
              </a:rPr>
              <a:t>J. Hu, S. Liu, and Y. Wang, "Network Anomaly Detection Using CNN and Attention-Based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IEEE Access, vol. 8, pp. 70116–70125, 2020.</a:t>
            </a:r>
            <a:endParaRPr lang="en-US" sz="2000" dirty="0">
              <a:effectLst/>
              <a:latin typeface="Times New Roman" panose="02020603050405020304" pitchFamily="18" charset="0"/>
              <a:ea typeface="MS Mincho" panose="02020609040205080304" pitchFamily="49" charset="-128"/>
              <a:cs typeface="Times New Roman" panose="02020603050405020304" pitchFamily="18" charset="0"/>
            </a:endParaRPr>
          </a:p>
          <a:p>
            <a:pPr marL="457200" indent="-457200" algn="just">
              <a:lnSpc>
                <a:spcPts val="2455"/>
              </a:lnSpc>
              <a:spcBef>
                <a:spcPts val="125"/>
              </a:spcBef>
              <a:buFontTx/>
              <a:buAutoNum type="arabicPeriod"/>
              <a:tabLst>
                <a:tab pos="457200" algn="l"/>
                <a:tab pos="470534" algn="l"/>
              </a:tabLst>
            </a:pPr>
            <a:r>
              <a:rPr lang="en-US" sz="2000" dirty="0">
                <a:latin typeface="Times New Roman" panose="02020603050405020304" pitchFamily="18" charset="0"/>
                <a:cs typeface="Times New Roman" panose="02020603050405020304" pitchFamily="18" charset="0"/>
              </a:rPr>
              <a:t>R. Moustafa and J. Slay, "UNSW-NB15: A Benchmark Dataset for Evaluating Intrusion Detection Systems," in Proc. Military Communications and Information Systems Conference, pp. 1–6, 2015.</a:t>
            </a:r>
          </a:p>
          <a:p>
            <a:pPr marL="457200" indent="-457200" algn="just">
              <a:lnSpc>
                <a:spcPts val="2455"/>
              </a:lnSpc>
              <a:spcBef>
                <a:spcPts val="125"/>
              </a:spcBef>
              <a:buFontTx/>
              <a:buAutoNum type="arabicPeriod"/>
              <a:tabLst>
                <a:tab pos="457200" algn="l"/>
                <a:tab pos="470534" algn="l"/>
              </a:tabLst>
            </a:pPr>
            <a:endParaRPr lang="en-IN" sz="1800" dirty="0">
              <a:effectLst/>
              <a:latin typeface="Times New Roman" panose="02020603050405020304" pitchFamily="18" charset="0"/>
              <a:ea typeface="MS Mincho" panose="02020609040205080304" pitchFamily="49" charset="-128"/>
            </a:endParaRPr>
          </a:p>
          <a:p>
            <a:pPr>
              <a:lnSpc>
                <a:spcPts val="2455"/>
              </a:lnSpc>
              <a:spcBef>
                <a:spcPts val="125"/>
              </a:spcBef>
              <a:tabLst>
                <a:tab pos="457200" algn="l"/>
                <a:tab pos="470534" algn="l"/>
              </a:tabLst>
            </a:pPr>
            <a:endParaRPr lang="en-IN" sz="1800" dirty="0">
              <a:effectLst/>
              <a:latin typeface="Times New Roman" panose="02020603050405020304" pitchFamily="18" charset="0"/>
              <a:ea typeface="MS Mincho" panose="02020609040205080304" pitchFamily="49" charset="-128"/>
            </a:endParaRPr>
          </a:p>
          <a:p>
            <a:pPr marL="457200" indent="-457200">
              <a:lnSpc>
                <a:spcPts val="2455"/>
              </a:lnSpc>
              <a:spcBef>
                <a:spcPts val="125"/>
              </a:spcBef>
              <a:buAutoNum type="arabicPeriod"/>
              <a:tabLst>
                <a:tab pos="457200" algn="l"/>
                <a:tab pos="470534" algn="l"/>
              </a:tabLst>
            </a:pPr>
            <a:endParaRPr lang="en-IN" sz="2150" dirty="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887050"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114800" y="6451049"/>
            <a:ext cx="1069720"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1" y="6451049"/>
            <a:ext cx="1069719"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21</a:t>
            </a:fld>
            <a:endParaRPr dirty="0"/>
          </a:p>
        </p:txBody>
      </p:sp>
      <p:pic>
        <p:nvPicPr>
          <p:cNvPr id="9" name="Content Placeholder 2">
            <a:extLst>
              <a:ext uri="{FF2B5EF4-FFF2-40B4-BE49-F238E27FC236}">
                <a16:creationId xmlns:a16="http://schemas.microsoft.com/office/drawing/2014/main" id="{FC0D0F7C-B2FD-C5B2-B778-D72F8FE13278}"/>
              </a:ext>
            </a:extLst>
          </p:cNvPr>
          <p:cNvPicPr>
            <a:picLocks noGrp="1" noChangeAspect="1"/>
          </p:cNvPicPr>
          <p:nvPr/>
        </p:nvPicPr>
        <p:blipFill>
          <a:blip r:embed="rId2">
            <a:extLst>
              <a:ext uri="{28A0092B-C50C-407E-A947-70E740481C1C}">
                <a14:useLocalDpi xmlns:a14="http://schemas.microsoft.com/office/drawing/2010/main" val="0"/>
              </a:ext>
            </a:extLst>
          </a:blip>
          <a:srcRect/>
          <a:stretch/>
        </p:blipFill>
        <p:spPr>
          <a:xfrm>
            <a:off x="1503320" y="609600"/>
            <a:ext cx="9185360" cy="517720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dt" sz="half" idx="6"/>
          </p:nvPr>
        </p:nvSpPr>
        <p:spPr>
          <a:xfrm>
            <a:off x="917575" y="6451049"/>
            <a:ext cx="749935" cy="179536"/>
          </a:xfrm>
          <a:prstGeom prst="rect">
            <a:avLst/>
          </a:prstGeom>
        </p:spPr>
        <p:txBody>
          <a:bodyPr vert="horz" wrap="square" lIns="0" tIns="0" rIns="0" bIns="0" rtlCol="0">
            <a:spAutoFit/>
          </a:bodyPr>
          <a:lstStyle/>
          <a:p>
            <a:pPr marL="12700">
              <a:lnSpc>
                <a:spcPts val="1410"/>
              </a:lnSpc>
            </a:pPr>
            <a:r>
              <a:rPr lang="en-IN" spc="5" dirty="0"/>
              <a:t>05-12-2025</a:t>
            </a:r>
          </a:p>
        </p:txBody>
      </p:sp>
      <p:sp>
        <p:nvSpPr>
          <p:cNvPr id="5" name="object 5"/>
          <p:cNvSpPr txBox="1"/>
          <p:nvPr/>
        </p:nvSpPr>
        <p:spPr>
          <a:xfrm>
            <a:off x="4426330" y="6451049"/>
            <a:ext cx="1066002" cy="179536"/>
          </a:xfrm>
          <a:prstGeom prst="rect">
            <a:avLst/>
          </a:prstGeom>
        </p:spPr>
        <p:txBody>
          <a:bodyPr vert="horz" wrap="square" lIns="0" tIns="0" rIns="0" bIns="0" rtlCol="0">
            <a:spAutoFit/>
          </a:bodyPr>
          <a:lstStyle/>
          <a:p>
            <a:pPr marL="12700">
              <a:lnSpc>
                <a:spcPts val="1410"/>
              </a:lnSpc>
            </a:pPr>
            <a:r>
              <a:rPr sz="1200" spc="-45" dirty="0">
                <a:solidFill>
                  <a:srgbClr val="888888"/>
                </a:solidFill>
                <a:latin typeface="Times New Roman"/>
                <a:cs typeface="Times New Roman"/>
              </a:rPr>
              <a:t>Review</a:t>
            </a:r>
            <a:r>
              <a:rPr sz="1200" spc="1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02</a:t>
            </a:r>
            <a:endParaRPr sz="1200" dirty="0">
              <a:latin typeface="Times New Roman"/>
              <a:cs typeface="Times New Roman"/>
            </a:endParaRPr>
          </a:p>
        </p:txBody>
      </p:sp>
      <p:sp>
        <p:nvSpPr>
          <p:cNvPr id="6" name="object 6"/>
          <p:cNvSpPr txBox="1"/>
          <p:nvPr/>
        </p:nvSpPr>
        <p:spPr>
          <a:xfrm>
            <a:off x="5492331" y="6451049"/>
            <a:ext cx="1066001" cy="179536"/>
          </a:xfrm>
          <a:prstGeom prst="rect">
            <a:avLst/>
          </a:prstGeom>
        </p:spPr>
        <p:txBody>
          <a:bodyPr vert="horz" wrap="square" lIns="0" tIns="0" rIns="0" bIns="0" rtlCol="0">
            <a:spAutoFit/>
          </a:bodyPr>
          <a:lstStyle/>
          <a:p>
            <a:pPr marL="12700">
              <a:lnSpc>
                <a:spcPts val="1410"/>
              </a:lnSpc>
            </a:pPr>
            <a:r>
              <a:rPr sz="1200" spc="-25" dirty="0">
                <a:solidFill>
                  <a:srgbClr val="888888"/>
                </a:solidFill>
                <a:latin typeface="Times New Roman"/>
                <a:cs typeface="Times New Roman"/>
              </a:rPr>
              <a:t>Batch</a:t>
            </a:r>
            <a:r>
              <a:rPr sz="1200" spc="85" dirty="0">
                <a:solidFill>
                  <a:srgbClr val="888888"/>
                </a:solidFill>
                <a:latin typeface="Times New Roman"/>
                <a:cs typeface="Times New Roman"/>
              </a:rPr>
              <a:t> </a:t>
            </a:r>
            <a:r>
              <a:rPr sz="1200" spc="5" dirty="0">
                <a:solidFill>
                  <a:srgbClr val="888888"/>
                </a:solidFill>
                <a:latin typeface="Times New Roman"/>
                <a:cs typeface="Times New Roman"/>
              </a:rPr>
              <a:t>No.</a:t>
            </a:r>
            <a:r>
              <a:rPr lang="en-IN" sz="1200" spc="5" dirty="0">
                <a:solidFill>
                  <a:srgbClr val="888888"/>
                </a:solidFill>
                <a:latin typeface="Times New Roman"/>
                <a:cs typeface="Times New Roman"/>
              </a:rPr>
              <a:t>CB2</a:t>
            </a:r>
            <a:endParaRPr sz="1200" dirty="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0"/>
              </a:lnSpc>
            </a:pPr>
            <a:r>
              <a:rPr spc="-35" dirty="0"/>
              <a:t>Department</a:t>
            </a:r>
            <a:r>
              <a:rPr spc="295" dirty="0"/>
              <a:t> </a:t>
            </a:r>
            <a:r>
              <a:rPr dirty="0"/>
              <a:t>of</a:t>
            </a:r>
            <a:r>
              <a:rPr spc="25" dirty="0"/>
              <a:t> </a:t>
            </a:r>
            <a:r>
              <a:rPr spc="5" dirty="0"/>
              <a:t>CSE</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410"/>
              </a:lnSpc>
            </a:pPr>
            <a:fld id="{81D60167-4931-47E6-BA6A-407CBD079E47}" type="slidenum">
              <a:rPr dirty="0"/>
              <a:t>22</a:t>
            </a:fld>
            <a:endParaRPr dirty="0"/>
          </a:p>
        </p:txBody>
      </p:sp>
      <p:pic>
        <p:nvPicPr>
          <p:cNvPr id="9" name="Content Placeholder 1">
            <a:extLst>
              <a:ext uri="{FF2B5EF4-FFF2-40B4-BE49-F238E27FC236}">
                <a16:creationId xmlns:a16="http://schemas.microsoft.com/office/drawing/2014/main" id="{41706558-8090-A4A6-08CA-B0EFAA70C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8639" y="1046480"/>
            <a:ext cx="8655341" cy="4592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1136</TotalTime>
  <Words>2088</Words>
  <Application>Microsoft Office PowerPoint</Application>
  <PresentationFormat>Widescreen</PresentationFormat>
  <Paragraphs>262</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MT</vt:lpstr>
      <vt:lpstr>Calibri</vt:lpstr>
      <vt:lpstr>Times New Roman</vt:lpstr>
      <vt:lpstr>Office Theme</vt:lpstr>
      <vt:lpstr>Department of Computer Science and Engineering Enhanced Hybrid Deep Learning Model for Cybersecurity Threat Detection Using CNN-BiLSTM and Feature Optimization</vt:lpstr>
      <vt:lpstr>OUTLINE</vt:lpstr>
      <vt:lpstr>ABSTRACT</vt:lpstr>
      <vt:lpstr>INTRODUCTION</vt:lpstr>
      <vt:lpstr>PROBLEM STATEMENT</vt:lpstr>
      <vt:lpstr>LITERATURE SURVEY</vt:lpstr>
      <vt:lpstr>LITERATURE SURVEY</vt:lpstr>
      <vt:lpstr>RESEARCH GAPS</vt:lpstr>
      <vt:lpstr>OBJECTIVES</vt:lpstr>
      <vt:lpstr>METHODOLOGY</vt:lpstr>
      <vt:lpstr>FLOW DIAGRAM</vt:lpstr>
      <vt:lpstr>Implementation Work-Flow</vt:lpstr>
      <vt:lpstr>Hybrid Deep Learning Model Architecture </vt:lpstr>
      <vt:lpstr>Model Evaluation, Web Integration and Deployment  </vt:lpstr>
      <vt:lpstr>PowerPoint Presentation</vt:lpstr>
      <vt:lpstr>PowerPoint Presentation</vt:lpstr>
      <vt:lpstr>PowerPoint Presentation</vt:lpstr>
      <vt:lpstr>RESULTS AND ANALYSIS</vt:lpstr>
      <vt:lpstr>CONCLUSION AND FUTURE SCOPE</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LakshmiDurgamma Amarthaluri</dc:creator>
  <cp:lastModifiedBy>teja namburi</cp:lastModifiedBy>
  <cp:revision>31</cp:revision>
  <dcterms:created xsi:type="dcterms:W3CDTF">2024-03-31T16:53:22Z</dcterms:created>
  <dcterms:modified xsi:type="dcterms:W3CDTF">2025-12-05T08:41:20Z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2023-12-24T00:00:00Z</vt:filetime>
  </property>
  <property fmtid="{D5CDD505-2E9C-101B-9397-08002B2CF9AE}" pid="3" name="LastSaved">
    <vt:filetime>2024-03-31T00:00:00Z</vt:filetime>
  </property>
</Properties>
</file>